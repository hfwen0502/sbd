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112471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800" b="1">
                <a:solidFill>
                  <a:srgbClr val="161616"/>
                </a:solidFill>
                <a:latin typeface="Calibri"/>
              </a:rPr>
              <a:t>SBD Python Walkthrough</a:t>
            </a:r>
          </a:p>
          <a:p>
            <a:r>
              <a:rPr sz="2400">
                <a:solidFill>
                  <a:srgbClr val="0F62FE"/>
                </a:solidFill>
                <a:latin typeface="Calibri"/>
              </a:rPr>
              <a:t>GPU-accelerated alternative to Dice in qiskit-addon-sqd</a:t>
            </a:r>
          </a:p>
          <a:p/>
          <a:p>
            <a:r>
              <a:rPr sz="1600" i="1">
                <a:solidFill>
                  <a:srgbClr val="69767A"/>
                </a:solidFill>
                <a:latin typeface="Calibri"/>
              </a:rPr>
              <a:t>Co-presented by [systems lead] and [chemistry lead]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61616"/>
                </a:solidFill>
                <a:latin typeface="Calibri"/>
              </a:rPr>
              <a:t>SBD vs Dice — same role, different envelope</a:t>
            </a:r>
          </a:p>
          <a:p>
            <a:r>
              <a:rPr sz="1600">
                <a:solidFill>
                  <a:srgbClr val="0F62FE"/>
                </a:solidFill>
                <a:latin typeface="Calibri"/>
              </a:rPr>
              <a:t>Both diagonalize the projected Hamiltonian inside qiskit-addon-sqd's iteration loop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554480"/>
          <a:ext cx="1124712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396240">
                <a:tc>
                  <a:txBody>
                    <a:bodyPr/>
                    <a:lstStyle/>
                    <a:p/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Dice (SHCI)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SBD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Hardware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CPU + MPI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CPU + MPI + GPU (Thrust / OMP-offload)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Process model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subprocess + CLI + binary file I/O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in-process pybind11 module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Determinant selection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internal heat-bath (eps knob)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external (caller-provided list)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Orbital ceiling (data-type)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128  (16-byte determinant addr)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160 (default) · 512 (bit_length=64) · configurable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Integration with sqd-addon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stock package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MPI-aware fork (@patch-ferminon-sbd)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41148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F62FE"/>
                </a:solidFill>
                <a:latin typeface="Calibri"/>
              </a:rPr>
              <a:t>Where it lives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4526280"/>
          <a:ext cx="1124712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23560"/>
                <a:gridCol w="5623560"/>
              </a:tblGrid>
              <a:tr h="3429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Layer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Repo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Upstream SBD (C++ core, RIKEN CCS)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github.com/r-ccs-cms/sbd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Python wrapper (fork with python/ bindings)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github.com/hfwen0502/sbd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Patched qiskit-addon-sqd (MPI-aware solver hook)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github.com/hfwen0502/qiskit-addon-sqd  (branch: patch-ferminon-sbd)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9893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69767A"/>
                </a:solidFill>
                <a:latin typeface="Calibri"/>
              </a:rPr>
              <a:t>Same FCIDUMP input, same RDM outputs, same role in the SQD loop. Process model and hardware envelope are what change.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69767A"/>
                </a:solidFill>
                <a:latin typeface="Calibri"/>
              </a:rPr>
              <a:t>Slide 2 — positioning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61616"/>
                </a:solidFill>
                <a:latin typeface="Calibri"/>
              </a:rPr>
              <a:t>Subprocess + file I/O   vs   in-process pybind11</a:t>
            </a:r>
          </a:p>
          <a:p>
            <a:r>
              <a:rPr sz="1600">
                <a:solidFill>
                  <a:srgbClr val="0F62FE"/>
                </a:solidFill>
                <a:latin typeface="Calibri"/>
              </a:rPr>
              <a:t>What happens per SQD iteration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5544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DA1E28"/>
                </a:solidFill>
                <a:latin typeface="Calibri"/>
              </a:rPr>
              <a:t>Dice path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2011680"/>
            <a:ext cx="5486400" cy="41148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7200" y="2061680"/>
            <a:ext cx="5386400" cy="40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161616"/>
                </a:solidFill>
                <a:latin typeface="Menlo"/>
              </a:rPr>
              <a:t>Python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  ↓</a:t>
            </a:r>
          </a:p>
          <a:p>
            <a:r>
              <a:rPr sz="1500" b="1">
                <a:solidFill>
                  <a:srgbClr val="DA1E28"/>
                </a:solidFill>
                <a:latin typeface="Menlo"/>
              </a:rPr>
              <a:t>write FCIDUMP + input.dat to /tmp/dice_cli_files_*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  ↓</a:t>
            </a:r>
          </a:p>
          <a:p>
            <a:r>
              <a:rPr sz="1500" b="1">
                <a:solidFill>
                  <a:srgbClr val="DA1E28"/>
                </a:solidFill>
                <a:latin typeface="Menlo"/>
              </a:rPr>
              <a:t>subprocess.run(["mpirun", ..., bin/Dice], ...)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  ↓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Dice CLI runs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  ↓</a:t>
            </a:r>
          </a:p>
          <a:p>
            <a:r>
              <a:rPr sz="1500" b="1">
                <a:solidFill>
                  <a:srgbClr val="DA1E28"/>
                </a:solidFill>
                <a:latin typeface="Menlo"/>
              </a:rPr>
              <a:t>parse spin1RDM.*.txt + stdout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  ↓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shutil.rmtree(temp_dir)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  ↓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back to Python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5352" y="15544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0F62FE"/>
                </a:solidFill>
                <a:latin typeface="Calibri"/>
              </a:rPr>
              <a:t>SBD path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5352" y="2011680"/>
            <a:ext cx="5486400" cy="41148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95352" y="2061680"/>
            <a:ext cx="5386400" cy="40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161616"/>
                </a:solidFill>
                <a:latin typeface="Menlo"/>
              </a:rPr>
              <a:t>Python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  ↓</a:t>
            </a:r>
          </a:p>
          <a:p>
            <a:r>
              <a:rPr sz="1500" b="1">
                <a:solidFill>
                  <a:srgbClr val="DA1E28"/>
                </a:solidFill>
                <a:latin typeface="Menlo"/>
              </a:rPr>
              <a:t>sbd.tpb_diag(fcidump, adet, ...)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  ↓</a:t>
            </a:r>
          </a:p>
          <a:p>
            <a:r>
              <a:rPr sz="1500" b="1">
                <a:solidFill>
                  <a:srgbClr val="DA1E28"/>
                </a:solidFill>
                <a:latin typeface="Menlo"/>
              </a:rPr>
              <a:t>pybind11 → C++ Davidson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  ↓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MPI + OpenMP + GPU (Thrust or OMP-offload)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  ↓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returns Python objects (energy, RDMs, wf)</a:t>
            </a:r>
          </a:p>
          <a:p>
            <a:r>
              <a:rPr sz="15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5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5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500">
                <a:solidFill>
                  <a:srgbClr val="69767A"/>
                </a:solidFill>
                <a:latin typeface="Menlo"/>
              </a:rPr>
              <a:t> 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9893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62FE"/>
                </a:solidFill>
                <a:latin typeface="Calibri"/>
              </a:rPr>
              <a:t>How you launch the job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355080"/>
            <a:ext cx="11247120" cy="4572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7200" y="6405080"/>
            <a:ext cx="11147120" cy="3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A1E28"/>
                </a:solidFill>
                <a:latin typeface="Menlo"/>
              </a:rPr>
              <a:t>Dice:  python my_script.py                              # serial; Dice forks mpirun per call internally</a:t>
            </a:r>
          </a:p>
          <a:p>
            <a:r>
              <a:rPr sz="1200" b="1">
                <a:solidFill>
                  <a:srgbClr val="DA1E28"/>
                </a:solidFill>
                <a:latin typeface="Menlo"/>
              </a:rPr>
              <a:t>SBD:   mpirun -np N python my_script.py                 # MPI-native; you launch all ranks once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69767A"/>
                </a:solidFill>
                <a:latin typeface="Calibri"/>
              </a:rPr>
              <a:t>Slide 3 — architecture contrast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61616"/>
                </a:solidFill>
                <a:latin typeface="Calibri"/>
              </a:rPr>
              <a:t>Pick your backend at runtime</a:t>
            </a:r>
          </a:p>
          <a:p>
            <a:r>
              <a:rPr sz="1600">
                <a:solidFill>
                  <a:srgbClr val="0F62FE"/>
                </a:solidFill>
                <a:latin typeface="Calibri"/>
              </a:rPr>
              <a:t>import sbd loads every backend that compiled — switch with one keyword arg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630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F62FE"/>
                </a:solidFill>
                <a:latin typeface="Calibri"/>
              </a:rPr>
              <a:t>See what's available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874519"/>
            <a:ext cx="5486400" cy="18288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7200" y="1924519"/>
            <a:ext cx="5386400" cy="17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161616"/>
                </a:solidFill>
                <a:latin typeface="Menlo"/>
              </a:rPr>
              <a:t>import sbd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400" b="1">
                <a:solidFill>
                  <a:srgbClr val="DA1E28"/>
                </a:solidFill>
                <a:latin typeface="Menlo"/>
              </a:rPr>
              <a:t>sbd.available_backends()</a:t>
            </a:r>
          </a:p>
          <a:p>
            <a:r>
              <a:rPr sz="1400">
                <a:solidFill>
                  <a:srgbClr val="161616"/>
                </a:solidFill>
                <a:latin typeface="Menlo"/>
              </a:rPr>
              <a:t>  → ['cpu', 'gpu', 'gpu-nvidia-omp']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400" b="1">
                <a:solidFill>
                  <a:srgbClr val="DA1E28"/>
                </a:solidFill>
                <a:latin typeface="Menlo"/>
              </a:rPr>
              <a:t>sbd.print_info()  # version, hardware, session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5352" y="14630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F62FE"/>
                </a:solidFill>
                <a:latin typeface="Calibri"/>
              </a:rPr>
              <a:t>Switch backends — three equivalent paths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5352" y="1874519"/>
            <a:ext cx="5486400" cy="402336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95352" y="1924519"/>
            <a:ext cx="5386400" cy="39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69767A"/>
                </a:solidFill>
                <a:latin typeface="Menlo"/>
              </a:rPr>
              <a:t># 1. process-wide default at startup</a:t>
            </a:r>
          </a:p>
          <a:p>
            <a:r>
              <a:rPr sz="1400" b="1">
                <a:solidFill>
                  <a:srgbClr val="DA1E28"/>
                </a:solidFill>
                <a:latin typeface="Menlo"/>
              </a:rPr>
              <a:t>sbd.init(device='gpu')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# 2. per-call override, no re-init</a:t>
            </a:r>
          </a:p>
          <a:p>
            <a:r>
              <a:rPr sz="1400" b="1">
                <a:solidFill>
                  <a:srgbClr val="DA1E28"/>
                </a:solidFill>
                <a:latin typeface="Menlo"/>
              </a:rPr>
              <a:t>sbd.tpb_diag(..., device='gpu-omp')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# 3. through DeviceConfig (qiskit-addon-sqd path)</a:t>
            </a:r>
          </a:p>
          <a:p>
            <a:r>
              <a:rPr sz="1400" b="1">
                <a:solidFill>
                  <a:srgbClr val="DA1E28"/>
                </a:solidFill>
                <a:latin typeface="Menlo"/>
              </a:rPr>
              <a:t>solve_sci(..., device_config=DeviceConfig.gpu())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# CLI: every example script accepts --device</a:t>
            </a:r>
          </a:p>
          <a:p>
            <a:r>
              <a:rPr sz="1400" b="1">
                <a:solidFill>
                  <a:srgbClr val="DA1E28"/>
                </a:solidFill>
                <a:latin typeface="Menlo"/>
              </a:rPr>
              <a:t>$ python run_sbd_diag.py --device gpu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14800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69767A"/>
                </a:solidFill>
                <a:latin typeface="Calibri"/>
              </a:rPr>
              <a:t>All three return bit-equal energies.</a:t>
            </a:r>
          </a:p>
          <a:p>
            <a:r>
              <a:rPr sz="1500">
                <a:solidFill>
                  <a:srgbClr val="69767A"/>
                </a:solidFill>
                <a:latin typeface="Calibri"/>
              </a:rPr>
              <a:t>Backend choice doesn't move the eigenvalue.</a:t>
            </a:r>
          </a:p>
          <a:p>
            <a:r>
              <a:rPr sz="1500">
                <a:solidFill>
                  <a:srgbClr val="69767A"/>
                </a:solidFill>
                <a:latin typeface="Calibri"/>
              </a:rPr>
              <a:t>It moves the wallclock.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69767A"/>
                </a:solidFill>
                <a:latin typeface="Calibri"/>
              </a:rPr>
              <a:t>Slide 4 — runtime backend selection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61616"/>
                </a:solidFill>
                <a:latin typeface="Calibri"/>
              </a:rPr>
              <a:t>Same call shape, very different invocation</a:t>
            </a:r>
          </a:p>
          <a:p>
            <a:r>
              <a:rPr sz="1600">
                <a:solidFill>
                  <a:srgbClr val="0F62FE"/>
                </a:solidFill>
                <a:latin typeface="Calibri"/>
              </a:rPr>
              <a:t>What the user calls vs what the wrapper does internally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173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61616"/>
                </a:solidFill>
                <a:latin typeface="Calibri"/>
              </a:rPr>
              <a:t>What the user calls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783080"/>
            <a:ext cx="11247120" cy="109728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7200" y="1833080"/>
            <a:ext cx="11147120" cy="9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A1E28"/>
                </a:solidFill>
                <a:latin typeface="Menlo"/>
              </a:rPr>
              <a:t>energy, sci_state = solve_fermion(bitstring_matrix, hcore, eri, spin_sq=0.0)        # Dice</a:t>
            </a:r>
          </a:p>
          <a:p>
            <a:r>
              <a:rPr sz="1400" b="1">
                <a:solidFill>
                  <a:srgbClr val="DA1E28"/>
                </a:solidFill>
                <a:latin typeface="Menlo"/>
              </a:rPr>
              <a:t>energy, sci_state = solve_sci(ci_strings, h1e, h2e, norb=norb, nelec=nelec,         # SBD</a:t>
            </a:r>
          </a:p>
          <a:p>
            <a:r>
              <a:rPr sz="1400">
                <a:solidFill>
                  <a:srgbClr val="161616"/>
                </a:solidFill>
                <a:latin typeface="Menlo"/>
              </a:rPr>
              <a:t>                              device_config=DeviceConfig.gpu(), mpi_comm=MPI.COMM_WORLD)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0175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DA1E28"/>
                </a:solidFill>
                <a:latin typeface="Calibri"/>
              </a:rPr>
              <a:t>Inside Dice's wrapper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3383280"/>
            <a:ext cx="5486400" cy="292608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7200" y="3433280"/>
            <a:ext cx="5386400" cy="28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161616"/>
                </a:solidFill>
                <a:latin typeface="Menlo"/>
              </a:rPr>
              <a:t>dice_dir = Path(tempfile.mkdtemp(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    prefix='dice_cli_files_', ...))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tools.fcidump.from_integrals(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    dice_dir / 'fcidump.txt', ...)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_write_input_files(...)</a:t>
            </a:r>
          </a:p>
          <a:p>
            <a:r>
              <a:rPr sz="13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300" b="1">
                <a:solidFill>
                  <a:srgbClr val="DA1E28"/>
                </a:solidFill>
                <a:latin typeface="Menlo"/>
              </a:rPr>
              <a:t>dice_call = ['mpirun', *mpirun_options,</a:t>
            </a:r>
          </a:p>
          <a:p>
            <a:r>
              <a:rPr sz="1300" b="1">
                <a:solidFill>
                  <a:srgbClr val="DA1E28"/>
                </a:solidFill>
                <a:latin typeface="Menlo"/>
              </a:rPr>
              <a:t>             '&lt;…&gt;/bin/Dice']</a:t>
            </a:r>
          </a:p>
          <a:p>
            <a:r>
              <a:rPr sz="1300" b="1">
                <a:solidFill>
                  <a:srgbClr val="DA1E28"/>
                </a:solidFill>
                <a:latin typeface="Menlo"/>
              </a:rPr>
              <a:t>subprocess.run(dice_call, cwd=dice_dir,</a:t>
            </a:r>
          </a:p>
          <a:p>
            <a:r>
              <a:rPr sz="1300" b="1">
                <a:solidFill>
                  <a:srgbClr val="DA1E28"/>
                </a:solidFill>
                <a:latin typeface="Menlo"/>
              </a:rPr>
              <a:t>               stdout=logfile, stderr=logfile)</a:t>
            </a:r>
          </a:p>
          <a:p>
            <a:r>
              <a:rPr sz="13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_read_dice_outputs(dice_dir, ...)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shutil.rmtree(dice_dir)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45352" y="30175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F62FE"/>
                </a:solidFill>
                <a:latin typeface="Calibri"/>
              </a:rPr>
              <a:t>Inside SBD's wrapper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45352" y="3383280"/>
            <a:ext cx="5486400" cy="292608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95352" y="3433280"/>
            <a:ext cx="5386400" cy="28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161616"/>
                </a:solidFill>
                <a:latin typeface="Menlo"/>
              </a:rPr>
              <a:t>def tpb_diag(fcidump, adet, bdet,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             sbd_data, ..., device=None):</a:t>
            </a:r>
          </a:p>
          <a:p>
            <a:r>
              <a:rPr sz="1300" b="1">
                <a:solidFill>
                  <a:srgbClr val="DA1E28"/>
                </a:solidFill>
                <a:latin typeface="Menlo"/>
              </a:rPr>
              <a:t>    backend = get_backend(device)</a:t>
            </a:r>
          </a:p>
          <a:p>
            <a:r>
              <a:rPr sz="1300" b="1">
                <a:solidFill>
                  <a:srgbClr val="DA1E28"/>
                </a:solidFill>
                <a:latin typeface="Menlo"/>
              </a:rPr>
              <a:t>    return backend.tpb_diag(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        fcidump, adet, bdet, sbd_data, ...)</a:t>
            </a:r>
          </a:p>
          <a:p>
            <a:r>
              <a:rPr sz="13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300">
                <a:solidFill>
                  <a:srgbClr val="69767A"/>
                </a:solidFill>
                <a:latin typeface="Menlo"/>
              </a:rPr>
              <a:t># That's it.</a:t>
            </a:r>
          </a:p>
          <a:p>
            <a:r>
              <a:rPr sz="1300">
                <a:solidFill>
                  <a:srgbClr val="69767A"/>
                </a:solidFill>
                <a:latin typeface="Menlo"/>
              </a:rPr>
              <a:t># pybind11 dispatches into</a:t>
            </a:r>
          </a:p>
          <a:p>
            <a:r>
              <a:rPr sz="1300">
                <a:solidFill>
                  <a:srgbClr val="69767A"/>
                </a:solidFill>
                <a:latin typeface="Menlo"/>
              </a:rPr>
              <a:t># _core_cpu / _core_gpu / _core_gpu_omp_nvidia</a:t>
            </a:r>
          </a:p>
          <a:p>
            <a:r>
              <a:rPr sz="1300">
                <a:solidFill>
                  <a:srgbClr val="69767A"/>
                </a:solidFill>
                <a:latin typeface="Menlo"/>
              </a:rPr>
              <a:t># in this Python process,</a:t>
            </a:r>
          </a:p>
          <a:p>
            <a:r>
              <a:rPr sz="1300">
                <a:solidFill>
                  <a:srgbClr val="69767A"/>
                </a:solidFill>
                <a:latin typeface="Menlo"/>
              </a:rPr>
              <a:t># on this MPI rank, on this GPU.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69767A"/>
                </a:solidFill>
                <a:latin typeface="Calibri"/>
              </a:rPr>
              <a:t>Slide 5 — under-the-hood contrast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61616"/>
                </a:solidFill>
                <a:latin typeface="Calibri"/>
              </a:rPr>
              <a:t>SQD with SBD — bitstrings in, energy out</a:t>
            </a:r>
          </a:p>
          <a:p>
            <a:r>
              <a:rPr sz="1600">
                <a:solidFill>
                  <a:srgbClr val="0F62FE"/>
                </a:solidFill>
                <a:latin typeface="Calibri"/>
              </a:rPr>
              <a:t>Same shape as plugging in qiskit-addon-dice-solver; only sci_solver= changes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463040"/>
            <a:ext cx="11247120" cy="484632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7200" y="1513040"/>
            <a:ext cx="11147120" cy="47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69767A"/>
                </a:solidFill>
                <a:latin typeface="Menlo"/>
              </a:rPr>
              <a:t># 1. Hamiltonian from FCIDUMP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mf = tools.fcidump.to_scf('data/h2o/fcidump.txt')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hcore, eri = mf.get_hcore(), ao2mo.restore(1, mf._eri, norb)</a:t>
            </a:r>
          </a:p>
          <a:p>
            <a:r>
              <a:rPr sz="13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300">
                <a:solidFill>
                  <a:srgbClr val="69767A"/>
                </a:solidFill>
                <a:latin typeface="Menlo"/>
              </a:rPr>
              <a:t># 2. Bitstrings — quantum-measurement counts → BitArray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counts = json.load(open('python/examples/count_dict_h2o.json'))</a:t>
            </a:r>
          </a:p>
          <a:p>
            <a:r>
              <a:rPr sz="1300" b="1">
                <a:solidFill>
                  <a:srgbClr val="DA1E28"/>
                </a:solidFill>
                <a:latin typeface="Menlo"/>
              </a:rPr>
              <a:t>bit_array = BitArray.from_bool_array(_decode_counts(counts))</a:t>
            </a:r>
          </a:p>
          <a:p>
            <a:r>
              <a:rPr sz="13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300">
                <a:solidFill>
                  <a:srgbClr val="69767A"/>
                </a:solidFill>
                <a:latin typeface="Menlo"/>
              </a:rPr>
              <a:t># 3. Wire SBD into qiskit-addon-sqd's sci_solver= slot</a:t>
            </a:r>
          </a:p>
          <a:p>
            <a:r>
              <a:rPr sz="1300" b="1">
                <a:solidFill>
                  <a:srgbClr val="DA1E28"/>
                </a:solidFill>
                <a:latin typeface="Menlo"/>
              </a:rPr>
              <a:t>sbd.init(device='gpu')</a:t>
            </a:r>
          </a:p>
          <a:p>
            <a:r>
              <a:rPr sz="1300" b="1">
                <a:solidFill>
                  <a:srgbClr val="DA1E28"/>
                </a:solidFill>
                <a:latin typeface="Menlo"/>
              </a:rPr>
              <a:t>sbd_solver = partial(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    solve_sci_batch,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    mpi_comm = MPI.COMM_WORLD,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    sbd_config = {'method': 0, 'max_it': 100, 'max_nb': 50, ...},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    device_config = DeviceConfig.gpu(),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    fcidump_path = 'data/h2o/fcidump.txt',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)</a:t>
            </a:r>
          </a:p>
          <a:p>
            <a:r>
              <a:rPr sz="13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300">
                <a:solidFill>
                  <a:srgbClr val="69767A"/>
                </a:solidFill>
                <a:latin typeface="Menlo"/>
              </a:rPr>
              <a:t># 4. Run the SQD self-consistent loop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result = diagonalize_fermionic_hamiltonian(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    hcore, eri, bit_array,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    norb=norb, nelec=(num_elec_a, num_elec_b),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    samples_per_batch=300, num_batches=3, max_iterations=5,</a:t>
            </a:r>
          </a:p>
          <a:p>
            <a:r>
              <a:rPr sz="1300" b="1">
                <a:solidFill>
                  <a:srgbClr val="DA1E28"/>
                </a:solidFill>
                <a:latin typeface="Menlo"/>
              </a:rPr>
              <a:t>    sci_solver=sbd_solver,    # ← SBD plugs in here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69767A"/>
                </a:solidFill>
                <a:latin typeface="Calibri"/>
              </a:rPr>
              <a:t>Slide 6 — SQD-with-SBD example (full driver: python/examples/run_sqd_sbd.py)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61616"/>
                </a:solidFill>
                <a:latin typeface="Calibri"/>
              </a:rPr>
              <a:t>Three backends, one runtime decision</a:t>
            </a:r>
          </a:p>
          <a:p>
            <a:r>
              <a:rPr sz="1600">
                <a:solidFill>
                  <a:srgbClr val="0F62FE"/>
                </a:solidFill>
                <a:latin typeface="Calibri"/>
              </a:rPr>
              <a:t>Same source, same energies (bit-equal), different compilers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463040"/>
          <a:ext cx="1124712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36576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device=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Compiler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When to use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'cpu'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system c++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small problems · debugging · no GPU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'gpu' (Thrust)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NVHPC nvc++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NVIDIA GPU · production default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'gpu-omp' (LLVM)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clang++ w/ NVPTX target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NVIDIA GPU · alternative kernel path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32004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62FE"/>
                </a:solidFill>
                <a:latin typeface="Calibri"/>
              </a:rPr>
              <a:t>Fe4S4 27,901 α-determinants on coreweave GB200 (post-rebuild, native sm_100):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3703320"/>
          <a:ext cx="1124712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51816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Backend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4×GB200 (1 node)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8×GB200 (2 nodes)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1n→2n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Thrust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577 s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329 s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1.75×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OMP-offload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491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304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1.62×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44068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69767A"/>
                </a:solidFill>
                <a:latin typeface="Calibri"/>
              </a:rPr>
              <a:t>All energies = −326.821832430028 (bit-equal across cpu / gpu / gpu-omp and 1n / 2n).</a:t>
            </a:r>
          </a:p>
          <a:p>
            <a:r>
              <a:rPr sz="1400">
                <a:solidFill>
                  <a:srgbClr val="69767A"/>
                </a:solidFill>
                <a:latin typeface="Calibri"/>
              </a:rPr>
              <a:t>vs Dice on CPU + MPI on the same workload: ~5–10× wallclock reduction.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69767A"/>
                </a:solidFill>
                <a:latin typeface="Calibri"/>
              </a:rPr>
              <a:t>Slide 7 — hardware story + perf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61616"/>
                </a:solidFill>
                <a:latin typeface="Calibri"/>
              </a:rPr>
              <a:t>Roadmap — main vs singles-doubles-extend</a:t>
            </a:r>
          </a:p>
          <a:p>
            <a:r>
              <a:rPr sz="1600">
                <a:solidFill>
                  <a:srgbClr val="0F62FE"/>
                </a:solidFill>
                <a:latin typeface="Calibri"/>
              </a:rPr>
              <a:t>Co-presenter slide: chemistry interpretation by [domain expert]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417320"/>
          <a:ext cx="11247120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39624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Branch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What it has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Where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main (stable)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Python wrapper, three backends, SQD integration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github.com/hfwen0502/sbd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singles-doubles-extend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+ variance, carryover variants, S+D expansion (in flight)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github.com/hfwen0502/sbd/tree/singles-doubles-extend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27889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F62FE"/>
                </a:solidFill>
                <a:latin typeface="Calibri"/>
              </a:rPr>
              <a:t>Experimental features (on singles-doubles-extend)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00400"/>
            <a:ext cx="112471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161616"/>
                </a:solidFill>
                <a:latin typeface="Calibri"/>
              </a:rPr>
              <a:t>1.  Energy variance estimation</a:t>
            </a:r>
          </a:p>
          <a:p>
            <a:r>
              <a:rPr sz="1400">
                <a:solidFill>
                  <a:srgbClr val="161616"/>
                </a:solidFill>
                <a:latin typeface="Calibri"/>
              </a:rPr>
              <a:t>      Per-iteration variance alongside the energy.</a:t>
            </a:r>
          </a:p>
          <a:p>
            <a:r>
              <a:rPr sz="1400">
                <a:solidFill>
                  <a:srgbClr val="161616"/>
                </a:solidFill>
                <a:latin typeface="Calibri"/>
              </a:rPr>
              <a:t>      → uncertainty bars · adaptive sampling · convergence diagnostics  [VERIFY]</a:t>
            </a:r>
          </a:p>
          <a:p>
            <a:r>
              <a:rPr sz="1400">
                <a:solidFill>
                  <a:srgbClr val="161616"/>
                </a:solidFill>
                <a:latin typeface="Calibri"/>
              </a:rPr>
              <a:t>      Reference example: python/examples/test_variance.py</a:t>
            </a:r>
          </a:p>
          <a:p>
            <a:r>
              <a:rPr sz="1400">
                <a:solidFill>
                  <a:srgbClr val="161616"/>
                </a:solidFill>
                <a:latin typeface="Calibri"/>
              </a:rPr>
              <a:t> </a:t>
            </a:r>
          </a:p>
          <a:p>
            <a:r>
              <a:rPr sz="1400">
                <a:solidFill>
                  <a:srgbClr val="161616"/>
                </a:solidFill>
                <a:latin typeface="Calibri"/>
              </a:rPr>
              <a:t>2.  Carryover-determinant variants</a:t>
            </a:r>
          </a:p>
          <a:p>
            <a:r>
              <a:rPr sz="1400">
                <a:solidFill>
                  <a:srgbClr val="161616"/>
                </a:solidFill>
                <a:latin typeface="Calibri"/>
              </a:rPr>
              <a:t>      Today: top-K by amplitude.</a:t>
            </a:r>
          </a:p>
          <a:p>
            <a:r>
              <a:rPr sz="1400">
                <a:solidFill>
                  <a:srgbClr val="161616"/>
                </a:solidFill>
                <a:latin typeface="Calibri"/>
              </a:rPr>
              <a:t>      Experimental: variance-weighted, residual-weighted, explicit cap (max_carryover_dets).</a:t>
            </a:r>
          </a:p>
          <a:p>
            <a:r>
              <a:rPr sz="1400">
                <a:solidFill>
                  <a:srgbClr val="161616"/>
                </a:solidFill>
                <a:latin typeface="Calibri"/>
              </a:rPr>
              <a:t>      → policy choice depends on sampling regime  [VERIFY]</a:t>
            </a:r>
          </a:p>
          <a:p>
            <a:r>
              <a:rPr sz="1400">
                <a:solidFill>
                  <a:srgbClr val="161616"/>
                </a:solidFill>
                <a:latin typeface="Calibri"/>
              </a:rPr>
              <a:t> </a:t>
            </a:r>
          </a:p>
          <a:p>
            <a:r>
              <a:rPr sz="1400">
                <a:solidFill>
                  <a:srgbClr val="161616"/>
                </a:solidFill>
                <a:latin typeface="Calibri"/>
              </a:rPr>
              <a:t>3.  Subspace expansion (S+D)</a:t>
            </a:r>
          </a:p>
          <a:p>
            <a:r>
              <a:rPr sz="1400">
                <a:solidFill>
                  <a:srgbClr val="161616"/>
                </a:solidFill>
                <a:latin typeface="Calibri"/>
              </a:rPr>
              <a:t>      Expand the SBD basis on the fly with single + double excitations.</a:t>
            </a:r>
          </a:p>
          <a:p>
            <a:r>
              <a:rPr sz="1400">
                <a:solidFill>
                  <a:srgbClr val="161616"/>
                </a:solidFill>
                <a:latin typeface="Calibri"/>
              </a:rPr>
              <a:t>      → analogous to PySCF CASCI → CASCI+S+D, or PT-style correction  [VERIFY]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69767A"/>
                </a:solidFill>
                <a:latin typeface="Calibri"/>
              </a:rPr>
              <a:t>Slide 8 — roadmap (co-presenter handles chemistry interpretation)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61616"/>
                </a:solidFill>
                <a:latin typeface="Calibri"/>
              </a:rPr>
              <a:t>The HPC pain — toolchain × MPI × fabric per cluster</a:t>
            </a:r>
          </a:p>
          <a:p>
            <a:r>
              <a:rPr sz="1600">
                <a:solidFill>
                  <a:srgbClr val="0F62FE"/>
                </a:solidFill>
                <a:latin typeface="Calibri"/>
              </a:rPr>
              <a:t>Why standing this up on a new cluster is harder than pip install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6304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62FE"/>
                </a:solidFill>
                <a:latin typeface="Calibri"/>
              </a:rPr>
              <a:t>Three backends, three compilers — distutils takes one CXX per setup() call → two pip invocations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874519"/>
          <a:ext cx="1124712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3429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Backend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Compiler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When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_core_cpu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system c++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debugging, small problems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_core_gpu (Thrust)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NVHPC nvc++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production GPU on NVIDIA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_core_gpu_omp_nvidia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LLVM clang++ + NVPTX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alternative GPU path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33832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61616"/>
                </a:solidFill>
                <a:latin typeface="Calibri"/>
              </a:rPr>
              <a:t>Plus a long tail of environment plumbing per box: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749039"/>
            <a:ext cx="112471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161616"/>
                </a:solidFill>
                <a:latin typeface="Calibri"/>
              </a:rPr>
              <a:t>•  GPU compute capability — sm_90 (default) vs sm_100 (Blackwell). Mismatch → silent host fallback, garbage energy.</a:t>
            </a:r>
          </a:p>
          <a:p>
            <a:r>
              <a:rPr sz="1300">
                <a:solidFill>
                  <a:srgbClr val="161616"/>
                </a:solidFill>
                <a:latin typeface="Calibri"/>
              </a:rPr>
              <a:t>•  MPI vendor — HPCX 4.1.x can't init pml=ucx in SLURM cgroup; fall back to ob1+smcuda+tcp. OpenMPI 5.x is fine. Spectrum MPI needs jsrun.</a:t>
            </a:r>
          </a:p>
          <a:p>
            <a:r>
              <a:rPr sz="1300">
                <a:solidFill>
                  <a:srgbClr val="161616"/>
                </a:solidFill>
                <a:latin typeface="Calibri"/>
              </a:rPr>
              <a:t>•  mpi4py ABI — wheels built against OpenMPI 5 segfault on HPCX 4. Source rebuild required.</a:t>
            </a:r>
          </a:p>
          <a:p>
            <a:r>
              <a:rPr sz="1300">
                <a:solidFill>
                  <a:srgbClr val="161616"/>
                </a:solidFill>
                <a:latin typeface="Calibri"/>
              </a:rPr>
              <a:t>•  LD_LIBRARY_PATH ordering — LLVM's libomp must precede NVHPC's, or the wrong OpenMP runtime loads.</a:t>
            </a:r>
          </a:p>
          <a:p>
            <a:r>
              <a:rPr sz="1300">
                <a:solidFill>
                  <a:srgbClr val="161616"/>
                </a:solidFill>
                <a:latin typeface="Calibri"/>
              </a:rPr>
              <a:t>•  SLURM DefMemPerCPU — opaque 'Requested node configuration is not available' if you forget --mem.</a:t>
            </a:r>
          </a:p>
          <a:p>
            <a:r>
              <a:rPr sz="1300">
                <a:solidFill>
                  <a:srgbClr val="161616"/>
                </a:solidFill>
                <a:latin typeface="Calibri"/>
              </a:rPr>
              <a:t>•  cvd_wrapper local-rank source — SLURM_LOCALID is alloc-wide; OMPI_COMM_WORLD_LOCAL_RANK is post-MPI_Init; OMPI_MCA_orte_ess_node_rank is the right one.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69767A"/>
                </a:solidFill>
                <a:latin typeface="Calibri"/>
              </a:rPr>
              <a:t>Slide 9 — HPC pain (build matrix)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61616"/>
                </a:solidFill>
                <a:latin typeface="Calibri"/>
              </a:rPr>
              <a:t>Network fabric dominates at 2+ nodes</a:t>
            </a:r>
          </a:p>
          <a:p>
            <a:r>
              <a:rPr sz="1600">
                <a:solidFill>
                  <a:srgbClr val="0F62FE"/>
                </a:solidFill>
                <a:latin typeface="Calibri"/>
              </a:rPr>
              <a:t>Same SBD code; comm-backend choice changes wallclock by ~1.4×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554480"/>
          <a:ext cx="1124712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Cluster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Fabric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Best comm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Why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coreweave GB200 (2-node)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MNNVL across nodes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nccl (P2P/MNNVL)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NVLink cross-node, not IB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8×H100 (1-node)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NVLink + NVSwitch + PCIe Gen5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nccl ≈ cuda_mpi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no MNNVL; comm dwarfed by compute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IBM LSF / jsrun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Spectrum MPI + IB+GDR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cuda_mpi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IBM's CUDA-aware MPI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Plain VM (no IB)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TCP only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host_mpi or nccl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no high-speed cross-node fabric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4114800"/>
            <a:ext cx="112471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161616"/>
                </a:solidFill>
                <a:latin typeface="Calibri"/>
              </a:rPr>
              <a:t>Concrete: same Fulqrum + SBD on 2-node GB200:</a:t>
            </a:r>
          </a:p>
          <a:p>
            <a:r>
              <a:rPr sz="1500">
                <a:solidFill>
                  <a:srgbClr val="161616"/>
                </a:solidFill>
                <a:latin typeface="Calibri"/>
              </a:rPr>
              <a:t>  • nccl + MNNVL:    188 s</a:t>
            </a:r>
          </a:p>
          <a:p>
            <a:r>
              <a:rPr sz="1500">
                <a:solidFill>
                  <a:srgbClr val="161616"/>
                </a:solidFill>
                <a:latin typeface="Calibri"/>
              </a:rPr>
              <a:t>  • cuda_mpi + TCP-staged IB:  264 s</a:t>
            </a:r>
          </a:p>
          <a:p>
            <a:r>
              <a:rPr sz="1500">
                <a:solidFill>
                  <a:srgbClr val="161616"/>
                </a:solidFill>
                <a:latin typeface="Calibri"/>
              </a:rPr>
              <a:t> </a:t>
            </a:r>
          </a:p>
          <a:p>
            <a:r>
              <a:rPr sz="1500">
                <a:solidFill>
                  <a:srgbClr val="161616"/>
                </a:solidFill>
                <a:latin typeface="Calibri"/>
              </a:rPr>
              <a:t>→ Fabric choice is a ~1.4× lever, independent of the kernel.</a:t>
            </a:r>
          </a:p>
          <a:p>
            <a:r>
              <a:rPr sz="1500">
                <a:solidFill>
                  <a:srgbClr val="161616"/>
                </a:solidFill>
                <a:latin typeface="Calibri"/>
              </a:rPr>
              <a:t>→ Choosing wrong leaves perf on the table, silently.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69767A"/>
                </a:solidFill>
                <a:latin typeface="Calibri"/>
              </a:rPr>
              <a:t>Slide 10 — fabric matters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61616"/>
                </a:solidFill>
                <a:latin typeface="Calibri"/>
              </a:rPr>
              <a:t>Letting an agent absorb the HPC stack</a:t>
            </a:r>
          </a:p>
          <a:p>
            <a:r>
              <a:rPr sz="1600">
                <a:solidFill>
                  <a:srgbClr val="0F62FE"/>
                </a:solidFill>
                <a:latin typeface="Calibri"/>
              </a:rPr>
              <a:t>UCX, NCCL, MPI, fabric, launcher — discovered per cluster, not encoded in your head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5544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61616"/>
                </a:solidFill>
                <a:latin typeface="Calibri"/>
              </a:rPr>
              <a:t>Single-node SBD is mostly tractable. Cluster-vendor stacks bite at 2+ nodes, where choices compound: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103120"/>
            <a:ext cx="112471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161616"/>
                </a:solidFill>
                <a:latin typeface="Calibri"/>
              </a:rPr>
              <a:t>•  UCX transport selection (cuda_copy / cuda_ipc / rc / ud) and which the cluster cgroup exposes</a:t>
            </a:r>
          </a:p>
          <a:p>
            <a:r>
              <a:rPr sz="1400">
                <a:solidFill>
                  <a:srgbClr val="161616"/>
                </a:solidFill>
                <a:latin typeface="Calibri"/>
              </a:rPr>
              <a:t>•  NCCL version (≥ 2.23 for MNNVL) and which fabric it picks (P2P/MNNVL vs IB+GDR vs sockets)</a:t>
            </a:r>
          </a:p>
          <a:p>
            <a:r>
              <a:rPr sz="1400">
                <a:solidFill>
                  <a:srgbClr val="161616"/>
                </a:solidFill>
                <a:latin typeface="Calibri"/>
              </a:rPr>
              <a:t>•  MPI vendor (HPCX vs OpenMPI 5 vs Spectrum) and the launcher (mpirun vs srun --mpi=pmix vs jsrun)</a:t>
            </a:r>
          </a:p>
          <a:p>
            <a:r>
              <a:rPr sz="1400">
                <a:solidFill>
                  <a:srgbClr val="161616"/>
                </a:solidFill>
                <a:latin typeface="Calibri"/>
              </a:rPr>
              <a:t>•  GPU-pinning convention — which env var the wrapper reads to pick CUDA_VISIBLE_DEVICES per rank</a:t>
            </a:r>
          </a:p>
          <a:p>
            <a:r>
              <a:rPr sz="1400">
                <a:solidFill>
                  <a:srgbClr val="161616"/>
                </a:solidFill>
                <a:latin typeface="Calibri"/>
              </a:rPr>
              <a:t>•  Fabric peculiarities (MNNVL on GB200, GPUDirect peermem on/off on H100, no IB on a VM)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663440"/>
            <a:ext cx="11247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69767A"/>
                </a:solidFill>
                <a:latin typeface="Calibri"/>
              </a:rPr>
              <a:t>The sqd-onboard agent walks the cluster, picks the right backend / launcher / fabric flags, builds the stack, validates correctness against a small reference, and emits ready-to-submit run scripts under run/&lt;solver&gt;/&lt;n&gt;node/.</a:t>
            </a:r>
          </a:p>
          <a:p>
            <a:r>
              <a:rPr sz="1400">
                <a:solidFill>
                  <a:srgbClr val="69767A"/>
                </a:solidFill>
                <a:latin typeface="Calibri"/>
              </a:rPr>
              <a:t> </a:t>
            </a:r>
          </a:p>
          <a:p>
            <a:r>
              <a:rPr sz="1400">
                <a:solidFill>
                  <a:srgbClr val="69767A"/>
                </a:solidFill>
                <a:latin typeface="Calibri"/>
              </a:rPr>
              <a:t>When it hits a failure mode it hasn't seen, the fix is captured as a signature in the playbook so the next user on that cluster doesn't repeat the discovery.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69767A"/>
                </a:solidFill>
                <a:latin typeface="Calibri"/>
              </a:rPr>
              <a:t>Slide 11 — the agent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61616"/>
                </a:solidFill>
                <a:latin typeface="Calibri"/>
              </a:rPr>
              <a:t>Backup — install commands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463040"/>
            <a:ext cx="11247120" cy="22860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7200" y="1513040"/>
            <a:ext cx="11147120" cy="21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69767A"/>
                </a:solidFill>
                <a:latin typeface="Menlo"/>
              </a:rPr>
              <a:t># 1. CPU + Thrust GPU (NVHPC nvc++ on PATH)</a:t>
            </a:r>
          </a:p>
          <a:p>
            <a:r>
              <a:rPr sz="1400" b="1">
                <a:solidFill>
                  <a:srgbClr val="DA1E28"/>
                </a:solidFill>
                <a:latin typeface="Menlo"/>
              </a:rPr>
              <a:t>SBD_BUILD_BACKEND=both CC=nvc CXX=nvc++ \</a:t>
            </a:r>
          </a:p>
          <a:p>
            <a:r>
              <a:rPr sz="1400">
                <a:solidFill>
                  <a:srgbClr val="161616"/>
                </a:solidFill>
                <a:latin typeface="Menlo"/>
              </a:rPr>
              <a:t>    pip install --no-build-isolation -e .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# 2. OMP-offload GPU (LLVM clang++ with NVPTX target on PATH)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#    Built separately — incompatible with NVHPC's CXX in one setup() call.</a:t>
            </a:r>
          </a:p>
          <a:p>
            <a:r>
              <a:rPr sz="1400" b="1">
                <a:solidFill>
                  <a:srgbClr val="DA1E28"/>
                </a:solidFill>
                <a:latin typeface="Menlo"/>
              </a:rPr>
              <a:t>SBD_BUILD_BACKEND=gpu_omp_nvidia \</a:t>
            </a:r>
          </a:p>
          <a:p>
            <a:r>
              <a:rPr sz="1400">
                <a:solidFill>
                  <a:srgbClr val="161616"/>
                </a:solidFill>
                <a:latin typeface="Menlo"/>
              </a:rPr>
              <a:t>    pip install --no-build-isolation -e .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# 3. qiskit-addon-sqd MPI-aware fork</a:t>
            </a:r>
          </a:p>
          <a:p>
            <a:r>
              <a:rPr sz="1400" b="1">
                <a:solidFill>
                  <a:srgbClr val="DA1E28"/>
                </a:solidFill>
                <a:latin typeface="Menlo"/>
              </a:rPr>
              <a:t>pip install git+https://github.com/hfwen0502/qiskit-addon-sqd@patch-ferminon-sbd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023360"/>
            <a:ext cx="11247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69767A"/>
                </a:solidFill>
                <a:latin typeface="Calibri"/>
              </a:rPr>
              <a:t>Per-cluster envelope: this is what the agent (slide 11) handles for you.</a:t>
            </a:r>
          </a:p>
          <a:p>
            <a:r>
              <a:rPr sz="1500">
                <a:solidFill>
                  <a:srgbClr val="69767A"/>
                </a:solidFill>
                <a:latin typeface="Calibri"/>
              </a:rPr>
              <a:t> </a:t>
            </a:r>
          </a:p>
          <a:p>
            <a:r>
              <a:rPr sz="1500">
                <a:solidFill>
                  <a:srgbClr val="69767A"/>
                </a:solidFill>
                <a:latin typeface="Calibri"/>
              </a:rPr>
              <a:t>Reference perf: see .github/FULQRUM_SBD_GB200_SCALING.md for the full per-matvec breakdown.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69767A"/>
                </a:solidFill>
                <a:latin typeface="Calibri"/>
              </a:rPr>
              <a:t>Slide 12 — backup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