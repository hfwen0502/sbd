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2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47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 dirty="0">
                <a:solidFill>
                  <a:srgbClr val="161616"/>
                </a:solidFill>
                <a:latin typeface="Calibri"/>
              </a:rPr>
              <a:t>SBD Python Walkthrough</a:t>
            </a:r>
          </a:p>
          <a:p>
            <a:r>
              <a:rPr sz="2400" dirty="0">
                <a:solidFill>
                  <a:srgbClr val="0F62FE"/>
                </a:solidFill>
                <a:latin typeface="Calibri"/>
              </a:rPr>
              <a:t>GPU-accelerated alternative to </a:t>
            </a:r>
            <a:r>
              <a:rPr sz="2400" dirty="0" err="1">
                <a:solidFill>
                  <a:srgbClr val="0F62FE"/>
                </a:solidFill>
                <a:latin typeface="Calibri"/>
              </a:rPr>
              <a:t>qiskit</a:t>
            </a:r>
            <a:r>
              <a:rPr lang="en-US" sz="2400" dirty="0">
                <a:solidFill>
                  <a:srgbClr val="0F62FE"/>
                </a:solidFill>
                <a:latin typeface="Calibri"/>
              </a:rPr>
              <a:t>-</a:t>
            </a:r>
            <a:r>
              <a:rPr sz="2400" dirty="0">
                <a:solidFill>
                  <a:srgbClr val="0F62FE"/>
                </a:solidFill>
                <a:latin typeface="Calibri"/>
              </a:rPr>
              <a:t>addon</a:t>
            </a:r>
            <a:r>
              <a:rPr lang="en-US" sz="2400" dirty="0">
                <a:solidFill>
                  <a:srgbClr val="0F62FE"/>
                </a:solidFill>
                <a:latin typeface="Calibri"/>
              </a:rPr>
              <a:t>-dice-solver</a:t>
            </a:r>
            <a:endParaRPr sz="2400" dirty="0">
              <a:solidFill>
                <a:srgbClr val="0F62F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161616"/>
                </a:solidFill>
                <a:latin typeface="Calibri"/>
              </a:rPr>
              <a:t>SBD vs Dice </a:t>
            </a:r>
            <a:r>
              <a:rPr lang="en-US" sz="3200" b="1" dirty="0">
                <a:solidFill>
                  <a:srgbClr val="161616"/>
                </a:solidFill>
                <a:latin typeface="Calibri"/>
              </a:rPr>
              <a:t>Solver </a:t>
            </a:r>
            <a:r>
              <a:rPr sz="3200" b="1" dirty="0">
                <a:solidFill>
                  <a:srgbClr val="161616"/>
                </a:solidFill>
                <a:latin typeface="Calibri"/>
              </a:rPr>
              <a:t>— same role, different envelope</a:t>
            </a:r>
          </a:p>
          <a:p>
            <a:r>
              <a:rPr sz="1600" dirty="0">
                <a:solidFill>
                  <a:srgbClr val="0F62FE"/>
                </a:solidFill>
                <a:latin typeface="Calibri"/>
              </a:rPr>
              <a:t>Both diagonalize the projected Hamiltonian inside </a:t>
            </a:r>
            <a:r>
              <a:rPr sz="1600" dirty="0" err="1">
                <a:solidFill>
                  <a:srgbClr val="0F62FE"/>
                </a:solidFill>
                <a:latin typeface="Calibri"/>
              </a:rPr>
              <a:t>qiskit</a:t>
            </a:r>
            <a:r>
              <a:rPr sz="1600" dirty="0">
                <a:solidFill>
                  <a:srgbClr val="0F62FE"/>
                </a:solidFill>
                <a:latin typeface="Calibri"/>
              </a:rPr>
              <a:t>-addon-</a:t>
            </a:r>
            <a:r>
              <a:rPr sz="1600" dirty="0" err="1">
                <a:solidFill>
                  <a:srgbClr val="0F62FE"/>
                </a:solidFill>
                <a:latin typeface="Calibri"/>
              </a:rPr>
              <a:t>sqd's</a:t>
            </a:r>
            <a:r>
              <a:rPr sz="1600" dirty="0">
                <a:solidFill>
                  <a:srgbClr val="0F62FE"/>
                </a:solidFill>
                <a:latin typeface="Calibri"/>
              </a:rPr>
              <a:t> iteration loop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967338"/>
              </p:ext>
            </p:extLst>
          </p:nvPr>
        </p:nvGraphicFramePr>
        <p:xfrm>
          <a:off x="473725" y="1554480"/>
          <a:ext cx="9676496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Dice 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Solver</a:t>
                      </a:r>
                      <a:endParaRPr sz="14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SBD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CPU + MPI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CPU + MPI + GPU (Thrust / OMP-offload)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Process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subprocess + CLI + binary file I/O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in-process pybind11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Determinant selection</a:t>
                      </a:r>
                      <a:r>
                        <a:rPr lang="en-US" sz="1400" dirty="0">
                          <a:solidFill>
                            <a:srgbClr val="161616"/>
                          </a:solidFill>
                          <a:latin typeface="Calibri"/>
                        </a:rPr>
                        <a:t> </a:t>
                      </a:r>
                      <a:endParaRPr sz="1400" dirty="0">
                        <a:solidFill>
                          <a:srgbClr val="161616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161616"/>
                          </a:solidFill>
                          <a:latin typeface="Calibri"/>
                        </a:rPr>
                        <a:t>External (caller-provided list)</a:t>
                      </a:r>
                      <a:endParaRPr sz="1400" dirty="0">
                        <a:solidFill>
                          <a:srgbClr val="161616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external (caller-provided list)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161616"/>
                          </a:solidFill>
                          <a:latin typeface="Calibri"/>
                        </a:rPr>
                        <a:t>Subspace dimension</a:t>
                      </a:r>
                      <a:endParaRPr sz="1400" dirty="0">
                        <a:solidFill>
                          <a:srgbClr val="161616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161616"/>
                          </a:solidFill>
                          <a:latin typeface="Calibri"/>
                        </a:rPr>
                        <a:t>in memory method (&lt; 10</a:t>
                      </a:r>
                      <a:r>
                        <a:rPr lang="en-US" sz="1400" baseline="30000" dirty="0">
                          <a:solidFill>
                            <a:srgbClr val="161616"/>
                          </a:solidFill>
                          <a:latin typeface="Calibri"/>
                        </a:rPr>
                        <a:t>^</a:t>
                      </a:r>
                      <a:r>
                        <a:rPr lang="en-US" sz="1400" dirty="0">
                          <a:solidFill>
                            <a:srgbClr val="161616"/>
                          </a:solidFill>
                          <a:latin typeface="Calibri"/>
                        </a:rPr>
                        <a:t>7 dimension)</a:t>
                      </a:r>
                      <a:endParaRPr sz="1400" dirty="0">
                        <a:solidFill>
                          <a:srgbClr val="161616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161616"/>
                          </a:solidFill>
                          <a:latin typeface="Calibri"/>
                        </a:rPr>
                        <a:t>Matrix free (&lt; 10</a:t>
                      </a:r>
                      <a:r>
                        <a:rPr lang="en-US" sz="1400" baseline="30000" dirty="0">
                          <a:solidFill>
                            <a:srgbClr val="161616"/>
                          </a:solidFill>
                          <a:latin typeface="Calibri"/>
                        </a:rPr>
                        <a:t>^</a:t>
                      </a:r>
                      <a:r>
                        <a:rPr lang="en-US" sz="1400" dirty="0">
                          <a:solidFill>
                            <a:srgbClr val="161616"/>
                          </a:solidFill>
                          <a:latin typeface="Calibri"/>
                        </a:rPr>
                        <a:t>12 dimension)</a:t>
                      </a:r>
                      <a:endParaRPr sz="1400" dirty="0">
                        <a:solidFill>
                          <a:srgbClr val="161616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Integration with sqd-addon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stock package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MPI-aware fork (@patch-</a:t>
                      </a:r>
                      <a:r>
                        <a:rPr sz="1400" dirty="0" err="1">
                          <a:solidFill>
                            <a:srgbClr val="161616"/>
                          </a:solidFill>
                          <a:latin typeface="Calibri"/>
                        </a:rPr>
                        <a:t>ferminon</a:t>
                      </a:r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-</a:t>
                      </a:r>
                      <a:r>
                        <a:rPr sz="1400" dirty="0" err="1">
                          <a:solidFill>
                            <a:srgbClr val="161616"/>
                          </a:solidFill>
                          <a:latin typeface="Calibri"/>
                        </a:rPr>
                        <a:t>sbd</a:t>
                      </a:r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62FE"/>
                </a:solidFill>
                <a:latin typeface="Calibri"/>
              </a:rPr>
              <a:t>Where it lives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469127"/>
              </p:ext>
            </p:extLst>
          </p:nvPr>
        </p:nvGraphicFramePr>
        <p:xfrm>
          <a:off x="457200" y="452628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Repo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Upstream SBD (C++ core, RIKEN CCS)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161616"/>
                          </a:solidFill>
                          <a:latin typeface="Calibri"/>
                        </a:rPr>
                        <a:t>github.com</a:t>
                      </a:r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/r-ccs-</a:t>
                      </a:r>
                      <a:r>
                        <a:rPr sz="1400" dirty="0" err="1">
                          <a:solidFill>
                            <a:srgbClr val="161616"/>
                          </a:solidFill>
                          <a:latin typeface="Calibri"/>
                        </a:rPr>
                        <a:t>cms</a:t>
                      </a:r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/</a:t>
                      </a:r>
                      <a:r>
                        <a:rPr sz="1400" dirty="0" err="1">
                          <a:solidFill>
                            <a:srgbClr val="161616"/>
                          </a:solidFill>
                          <a:latin typeface="Calibri"/>
                        </a:rPr>
                        <a:t>sbd</a:t>
                      </a:r>
                      <a:endParaRPr sz="1400" dirty="0">
                        <a:solidFill>
                          <a:srgbClr val="161616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Python wrapper (fork with python/ bindings)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161616"/>
                          </a:solidFill>
                          <a:latin typeface="Calibri"/>
                        </a:rPr>
                        <a:t>github.com</a:t>
                      </a:r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/hfwen0502/</a:t>
                      </a:r>
                      <a:r>
                        <a:rPr sz="1400" dirty="0" err="1">
                          <a:solidFill>
                            <a:srgbClr val="161616"/>
                          </a:solidFill>
                          <a:latin typeface="Calibri"/>
                        </a:rPr>
                        <a:t>sbd</a:t>
                      </a:r>
                      <a:endParaRPr sz="1400" dirty="0">
                        <a:solidFill>
                          <a:srgbClr val="161616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Patched </a:t>
                      </a:r>
                      <a:r>
                        <a:rPr sz="1400" dirty="0" err="1">
                          <a:solidFill>
                            <a:srgbClr val="161616"/>
                          </a:solidFill>
                          <a:latin typeface="Calibri"/>
                        </a:rPr>
                        <a:t>qiskit</a:t>
                      </a:r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-addon-</a:t>
                      </a:r>
                      <a:r>
                        <a:rPr sz="1400" dirty="0" err="1">
                          <a:solidFill>
                            <a:srgbClr val="161616"/>
                          </a:solidFill>
                          <a:latin typeface="Calibri"/>
                        </a:rPr>
                        <a:t>sqd</a:t>
                      </a:r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 (MPI-aware solver hook)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161616"/>
                          </a:solidFill>
                          <a:latin typeface="Calibri"/>
                        </a:rPr>
                        <a:t>github.com</a:t>
                      </a:r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/hfwen0502/</a:t>
                      </a:r>
                      <a:r>
                        <a:rPr sz="1400" dirty="0" err="1">
                          <a:solidFill>
                            <a:srgbClr val="161616"/>
                          </a:solidFill>
                          <a:latin typeface="Calibri"/>
                        </a:rPr>
                        <a:t>qiskit</a:t>
                      </a:r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-addon-</a:t>
                      </a:r>
                      <a:r>
                        <a:rPr sz="1400" dirty="0" err="1">
                          <a:solidFill>
                            <a:srgbClr val="161616"/>
                          </a:solidFill>
                          <a:latin typeface="Calibri"/>
                        </a:rPr>
                        <a:t>sqd</a:t>
                      </a:r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  (branch: patch-</a:t>
                      </a:r>
                      <a:r>
                        <a:rPr sz="1400" dirty="0" err="1">
                          <a:solidFill>
                            <a:srgbClr val="161616"/>
                          </a:solidFill>
                          <a:latin typeface="Calibri"/>
                        </a:rPr>
                        <a:t>ferminon</a:t>
                      </a:r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-</a:t>
                      </a:r>
                      <a:r>
                        <a:rPr sz="1400" dirty="0" err="1">
                          <a:solidFill>
                            <a:srgbClr val="161616"/>
                          </a:solidFill>
                          <a:latin typeface="Calibri"/>
                        </a:rPr>
                        <a:t>sbd</a:t>
                      </a:r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69767A"/>
                </a:solidFill>
                <a:latin typeface="Calibri"/>
              </a:rPr>
              <a:t>Same FCIDUMP input, same RDM outputs, same role in the SQD loop. Process model and hardware envelope are what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161616"/>
                </a:solidFill>
                <a:latin typeface="Calibri"/>
              </a:rPr>
              <a:t>Subprocess + file I/O   vs   in-process pybind11</a:t>
            </a:r>
          </a:p>
          <a:p>
            <a:r>
              <a:rPr sz="1600" dirty="0">
                <a:solidFill>
                  <a:srgbClr val="0F62FE"/>
                </a:solidFill>
                <a:latin typeface="Calibri"/>
              </a:rPr>
              <a:t>What happens per SQD iteration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200" y="1030840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DA1E28"/>
                </a:solidFill>
                <a:latin typeface="Calibri"/>
              </a:rPr>
              <a:t>Dice </a:t>
            </a:r>
            <a:r>
              <a:rPr lang="en-US" sz="2000" b="1" dirty="0">
                <a:solidFill>
                  <a:srgbClr val="DA1E28"/>
                </a:solidFill>
                <a:latin typeface="Calibri"/>
              </a:rPr>
              <a:t>solver </a:t>
            </a:r>
            <a:r>
              <a:rPr sz="2000" b="1" dirty="0">
                <a:solidFill>
                  <a:srgbClr val="DA1E28"/>
                </a:solidFill>
                <a:latin typeface="Calibri"/>
              </a:rPr>
              <a:t>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5486400" cy="4114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57200" y="1538040"/>
            <a:ext cx="5386400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dirty="0">
                <a:solidFill>
                  <a:srgbClr val="161616"/>
                </a:solidFill>
                <a:latin typeface="Menlo"/>
              </a:rPr>
              <a:t>Python</a:t>
            </a:r>
          </a:p>
          <a:p>
            <a:r>
              <a:rPr sz="1500" dirty="0">
                <a:solidFill>
                  <a:srgbClr val="161616"/>
                </a:solidFill>
                <a:latin typeface="Menlo"/>
              </a:rPr>
              <a:t>  ↓</a:t>
            </a:r>
          </a:p>
          <a:p>
            <a:r>
              <a:rPr sz="1500" b="1" dirty="0">
                <a:solidFill>
                  <a:srgbClr val="DA1E28"/>
                </a:solidFill>
                <a:latin typeface="Menlo"/>
              </a:rPr>
              <a:t>write FCIDUMP + </a:t>
            </a:r>
            <a:r>
              <a:rPr sz="1500" b="1" dirty="0" err="1">
                <a:solidFill>
                  <a:srgbClr val="DA1E28"/>
                </a:solidFill>
                <a:latin typeface="Menlo"/>
              </a:rPr>
              <a:t>input.dat</a:t>
            </a:r>
            <a:r>
              <a:rPr sz="1500" b="1" dirty="0">
                <a:solidFill>
                  <a:srgbClr val="DA1E28"/>
                </a:solidFill>
                <a:latin typeface="Menlo"/>
              </a:rPr>
              <a:t> to /</a:t>
            </a:r>
            <a:r>
              <a:rPr sz="1500" b="1" dirty="0" err="1">
                <a:solidFill>
                  <a:srgbClr val="DA1E28"/>
                </a:solidFill>
                <a:latin typeface="Menlo"/>
              </a:rPr>
              <a:t>tmp</a:t>
            </a:r>
            <a:r>
              <a:rPr sz="1500" b="1" dirty="0">
                <a:solidFill>
                  <a:srgbClr val="DA1E28"/>
                </a:solidFill>
                <a:latin typeface="Menlo"/>
              </a:rPr>
              <a:t>/</a:t>
            </a:r>
            <a:r>
              <a:rPr sz="1500" b="1" dirty="0" err="1">
                <a:solidFill>
                  <a:srgbClr val="DA1E28"/>
                </a:solidFill>
                <a:latin typeface="Menlo"/>
              </a:rPr>
              <a:t>dice_cli_files</a:t>
            </a:r>
            <a:r>
              <a:rPr sz="1500" b="1" dirty="0">
                <a:solidFill>
                  <a:srgbClr val="DA1E28"/>
                </a:solidFill>
                <a:latin typeface="Menlo"/>
              </a:rPr>
              <a:t>_*</a:t>
            </a:r>
          </a:p>
          <a:p>
            <a:r>
              <a:rPr sz="1500" dirty="0">
                <a:solidFill>
                  <a:srgbClr val="161616"/>
                </a:solidFill>
                <a:latin typeface="Menlo"/>
              </a:rPr>
              <a:t>  ↓</a:t>
            </a:r>
          </a:p>
          <a:p>
            <a:r>
              <a:rPr sz="1500" b="1" dirty="0" err="1">
                <a:solidFill>
                  <a:srgbClr val="DA1E28"/>
                </a:solidFill>
                <a:latin typeface="Menlo"/>
              </a:rPr>
              <a:t>subprocess.run</a:t>
            </a:r>
            <a:r>
              <a:rPr sz="1500" b="1" dirty="0">
                <a:solidFill>
                  <a:srgbClr val="DA1E28"/>
                </a:solidFill>
                <a:latin typeface="Menlo"/>
              </a:rPr>
              <a:t>(["</a:t>
            </a:r>
            <a:r>
              <a:rPr sz="1500" b="1" dirty="0" err="1">
                <a:solidFill>
                  <a:srgbClr val="DA1E28"/>
                </a:solidFill>
                <a:latin typeface="Menlo"/>
              </a:rPr>
              <a:t>mpirun</a:t>
            </a:r>
            <a:r>
              <a:rPr sz="1500" b="1" dirty="0">
                <a:solidFill>
                  <a:srgbClr val="DA1E28"/>
                </a:solidFill>
                <a:latin typeface="Menlo"/>
              </a:rPr>
              <a:t>", ..., bin/Dice], ...)</a:t>
            </a:r>
          </a:p>
          <a:p>
            <a:r>
              <a:rPr sz="1500" dirty="0">
                <a:solidFill>
                  <a:srgbClr val="161616"/>
                </a:solidFill>
                <a:latin typeface="Menlo"/>
              </a:rPr>
              <a:t>  ↓</a:t>
            </a:r>
          </a:p>
          <a:p>
            <a:r>
              <a:rPr sz="1500" dirty="0">
                <a:solidFill>
                  <a:srgbClr val="161616"/>
                </a:solidFill>
                <a:latin typeface="Menlo"/>
              </a:rPr>
              <a:t>Dice CLI runs</a:t>
            </a:r>
          </a:p>
          <a:p>
            <a:r>
              <a:rPr sz="1500" dirty="0">
                <a:solidFill>
                  <a:srgbClr val="161616"/>
                </a:solidFill>
                <a:latin typeface="Menlo"/>
              </a:rPr>
              <a:t>  ↓</a:t>
            </a:r>
          </a:p>
          <a:p>
            <a:r>
              <a:rPr sz="1500" b="1" dirty="0">
                <a:solidFill>
                  <a:srgbClr val="DA1E28"/>
                </a:solidFill>
                <a:latin typeface="Menlo"/>
              </a:rPr>
              <a:t>parse spin1RDM.*.txt + </a:t>
            </a:r>
            <a:r>
              <a:rPr sz="1500" b="1" dirty="0" err="1">
                <a:solidFill>
                  <a:srgbClr val="DA1E28"/>
                </a:solidFill>
                <a:latin typeface="Menlo"/>
              </a:rPr>
              <a:t>stdout</a:t>
            </a:r>
            <a:endParaRPr sz="1500" b="1" dirty="0">
              <a:solidFill>
                <a:srgbClr val="DA1E28"/>
              </a:solidFill>
              <a:latin typeface="Menlo"/>
            </a:endParaRPr>
          </a:p>
          <a:p>
            <a:r>
              <a:rPr sz="1500" dirty="0">
                <a:solidFill>
                  <a:srgbClr val="161616"/>
                </a:solidFill>
                <a:latin typeface="Menlo"/>
              </a:rPr>
              <a:t>  ↓</a:t>
            </a:r>
          </a:p>
          <a:p>
            <a:r>
              <a:rPr sz="1500" dirty="0">
                <a:solidFill>
                  <a:srgbClr val="161616"/>
                </a:solidFill>
                <a:latin typeface="Menlo"/>
              </a:rPr>
              <a:t>back to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5352" y="1030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F62FE"/>
                </a:solidFill>
                <a:latin typeface="Calibri"/>
              </a:rPr>
              <a:t>SBD path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5352" y="1371600"/>
            <a:ext cx="5486400" cy="4114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345352" y="1538040"/>
            <a:ext cx="5386400" cy="40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dirty="0">
                <a:solidFill>
                  <a:srgbClr val="161616"/>
                </a:solidFill>
                <a:latin typeface="Menlo"/>
              </a:rPr>
              <a:t>Python</a:t>
            </a:r>
          </a:p>
          <a:p>
            <a:r>
              <a:rPr sz="1500" dirty="0">
                <a:solidFill>
                  <a:srgbClr val="161616"/>
                </a:solidFill>
                <a:latin typeface="Menlo"/>
              </a:rPr>
              <a:t>  ↓</a:t>
            </a:r>
          </a:p>
          <a:p>
            <a:r>
              <a:rPr sz="1500" b="1" dirty="0" err="1">
                <a:solidFill>
                  <a:srgbClr val="DA1E28"/>
                </a:solidFill>
                <a:latin typeface="Menlo"/>
              </a:rPr>
              <a:t>sbd.tpb_diag</a:t>
            </a:r>
            <a:r>
              <a:rPr sz="1500" b="1" dirty="0">
                <a:solidFill>
                  <a:srgbClr val="DA1E28"/>
                </a:solidFill>
                <a:latin typeface="Menlo"/>
              </a:rPr>
              <a:t>(</a:t>
            </a:r>
            <a:r>
              <a:rPr sz="1500" b="1" dirty="0" err="1">
                <a:solidFill>
                  <a:srgbClr val="DA1E28"/>
                </a:solidFill>
                <a:latin typeface="Menlo"/>
              </a:rPr>
              <a:t>fcidump</a:t>
            </a:r>
            <a:r>
              <a:rPr sz="1500" b="1" dirty="0">
                <a:solidFill>
                  <a:srgbClr val="DA1E28"/>
                </a:solidFill>
                <a:latin typeface="Menlo"/>
              </a:rPr>
              <a:t>, </a:t>
            </a:r>
            <a:r>
              <a:rPr sz="1500" b="1" dirty="0" err="1">
                <a:solidFill>
                  <a:srgbClr val="DA1E28"/>
                </a:solidFill>
                <a:latin typeface="Menlo"/>
              </a:rPr>
              <a:t>adet</a:t>
            </a:r>
            <a:r>
              <a:rPr sz="1500" b="1" dirty="0">
                <a:solidFill>
                  <a:srgbClr val="DA1E28"/>
                </a:solidFill>
                <a:latin typeface="Menlo"/>
              </a:rPr>
              <a:t>, ...)</a:t>
            </a:r>
          </a:p>
          <a:p>
            <a:r>
              <a:rPr sz="1500" dirty="0">
                <a:solidFill>
                  <a:srgbClr val="161616"/>
                </a:solidFill>
                <a:latin typeface="Menlo"/>
              </a:rPr>
              <a:t>  ↓</a:t>
            </a:r>
          </a:p>
          <a:p>
            <a:r>
              <a:rPr sz="1500" b="1" dirty="0">
                <a:solidFill>
                  <a:srgbClr val="DA1E28"/>
                </a:solidFill>
                <a:latin typeface="Menlo"/>
              </a:rPr>
              <a:t>pybind11 → C++ Davidson</a:t>
            </a:r>
          </a:p>
          <a:p>
            <a:r>
              <a:rPr sz="1500" dirty="0">
                <a:solidFill>
                  <a:srgbClr val="161616"/>
                </a:solidFill>
                <a:latin typeface="Menlo"/>
              </a:rPr>
              <a:t>  ↓</a:t>
            </a:r>
          </a:p>
          <a:p>
            <a:r>
              <a:rPr sz="1500" dirty="0">
                <a:solidFill>
                  <a:srgbClr val="161616"/>
                </a:solidFill>
                <a:latin typeface="Menlo"/>
              </a:rPr>
              <a:t>MPI + OpenMP + GPU (Thrust or OMP-offload)</a:t>
            </a:r>
          </a:p>
          <a:p>
            <a:r>
              <a:rPr sz="1500" dirty="0">
                <a:solidFill>
                  <a:srgbClr val="161616"/>
                </a:solidFill>
                <a:latin typeface="Menlo"/>
              </a:rPr>
              <a:t>  ↓</a:t>
            </a:r>
          </a:p>
          <a:p>
            <a:r>
              <a:rPr sz="1500" dirty="0">
                <a:solidFill>
                  <a:srgbClr val="161616"/>
                </a:solidFill>
                <a:latin typeface="Menlo"/>
              </a:rPr>
              <a:t>returns Python objects (energy, RDMs, </a:t>
            </a:r>
            <a:r>
              <a:rPr sz="1500" dirty="0" err="1">
                <a:solidFill>
                  <a:srgbClr val="161616"/>
                </a:solidFill>
                <a:latin typeface="Menlo"/>
              </a:rPr>
              <a:t>wf</a:t>
            </a:r>
            <a:r>
              <a:rPr sz="1500" dirty="0">
                <a:solidFill>
                  <a:srgbClr val="161616"/>
                </a:solidFill>
                <a:latin typeface="Menlo"/>
              </a:rPr>
              <a:t>)</a:t>
            </a:r>
          </a:p>
          <a:p>
            <a:r>
              <a:rPr sz="1500" dirty="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sz="1500" dirty="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sz="1500" dirty="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sz="1500" dirty="0">
                <a:solidFill>
                  <a:srgbClr val="69767A"/>
                </a:solidFill>
                <a:latin typeface="Menlo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94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0F62FE"/>
                </a:solidFill>
                <a:latin typeface="Calibri"/>
              </a:rPr>
              <a:t>How you launch the job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885111"/>
            <a:ext cx="11247120" cy="4572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5860720"/>
            <a:ext cx="111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DA1E28"/>
                </a:solidFill>
                <a:latin typeface="Menlo"/>
              </a:rPr>
              <a:t>Dice</a:t>
            </a:r>
            <a:r>
              <a:rPr lang="en-US" sz="1200" b="1" dirty="0">
                <a:solidFill>
                  <a:srgbClr val="DA1E28"/>
                </a:solidFill>
                <a:latin typeface="Menlo"/>
              </a:rPr>
              <a:t> solver</a:t>
            </a:r>
            <a:r>
              <a:rPr sz="1200" b="1" dirty="0">
                <a:solidFill>
                  <a:srgbClr val="DA1E28"/>
                </a:solidFill>
                <a:latin typeface="Menlo"/>
              </a:rPr>
              <a:t>:  python </a:t>
            </a:r>
            <a:r>
              <a:rPr sz="1200" b="1" dirty="0" err="1">
                <a:solidFill>
                  <a:srgbClr val="DA1E28"/>
                </a:solidFill>
                <a:latin typeface="Menlo"/>
              </a:rPr>
              <a:t>my_script.py</a:t>
            </a:r>
            <a:r>
              <a:rPr sz="1200" b="1" dirty="0">
                <a:solidFill>
                  <a:srgbClr val="DA1E28"/>
                </a:solidFill>
                <a:latin typeface="Menlo"/>
              </a:rPr>
              <a:t>                       # serial; Dice</a:t>
            </a:r>
            <a:r>
              <a:rPr lang="en-US" sz="1200" b="1" dirty="0">
                <a:solidFill>
                  <a:srgbClr val="DA1E28"/>
                </a:solidFill>
                <a:latin typeface="Menlo"/>
              </a:rPr>
              <a:t> solver</a:t>
            </a:r>
            <a:r>
              <a:rPr sz="1200" b="1" dirty="0">
                <a:solidFill>
                  <a:srgbClr val="DA1E28"/>
                </a:solidFill>
                <a:latin typeface="Menlo"/>
              </a:rPr>
              <a:t> forks </a:t>
            </a:r>
            <a:r>
              <a:rPr sz="1200" b="1" dirty="0" err="1">
                <a:solidFill>
                  <a:srgbClr val="DA1E28"/>
                </a:solidFill>
                <a:latin typeface="Menlo"/>
              </a:rPr>
              <a:t>mpirun</a:t>
            </a:r>
            <a:r>
              <a:rPr sz="1200" b="1" dirty="0">
                <a:solidFill>
                  <a:srgbClr val="DA1E28"/>
                </a:solidFill>
                <a:latin typeface="Menlo"/>
              </a:rPr>
              <a:t> per call internally</a:t>
            </a:r>
          </a:p>
          <a:p>
            <a:r>
              <a:rPr sz="1200" b="1" dirty="0">
                <a:solidFill>
                  <a:srgbClr val="DA1E28"/>
                </a:solidFill>
                <a:latin typeface="Menlo"/>
              </a:rPr>
              <a:t>SBD:   </a:t>
            </a:r>
            <a:r>
              <a:rPr lang="en-US" sz="1200" b="1" dirty="0">
                <a:solidFill>
                  <a:srgbClr val="DA1E28"/>
                </a:solidFill>
                <a:latin typeface="Menlo"/>
              </a:rPr>
              <a:t>       </a:t>
            </a:r>
            <a:r>
              <a:rPr sz="1200" b="1" dirty="0" err="1">
                <a:solidFill>
                  <a:srgbClr val="DA1E28"/>
                </a:solidFill>
                <a:latin typeface="Menlo"/>
              </a:rPr>
              <a:t>mpirun</a:t>
            </a:r>
            <a:r>
              <a:rPr sz="1200" b="1" dirty="0">
                <a:solidFill>
                  <a:srgbClr val="DA1E28"/>
                </a:solidFill>
                <a:latin typeface="Menlo"/>
              </a:rPr>
              <a:t> -np N python </a:t>
            </a:r>
            <a:r>
              <a:rPr sz="1200" b="1" dirty="0" err="1">
                <a:solidFill>
                  <a:srgbClr val="DA1E28"/>
                </a:solidFill>
                <a:latin typeface="Menlo"/>
              </a:rPr>
              <a:t>my_script.py</a:t>
            </a:r>
            <a:r>
              <a:rPr sz="1200" b="1" dirty="0">
                <a:solidFill>
                  <a:srgbClr val="DA1E28"/>
                </a:solidFill>
                <a:latin typeface="Menlo"/>
              </a:rPr>
              <a:t>          # MPI-native; you launch all ranks once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161616"/>
                </a:solidFill>
                <a:latin typeface="Calibri"/>
              </a:rPr>
              <a:t>Pick your</a:t>
            </a:r>
            <a:r>
              <a:rPr lang="en-US" sz="3200" b="1" dirty="0">
                <a:solidFill>
                  <a:srgbClr val="161616"/>
                </a:solidFill>
                <a:latin typeface="Calibri"/>
              </a:rPr>
              <a:t> SBD</a:t>
            </a:r>
            <a:r>
              <a:rPr sz="3200" b="1" dirty="0">
                <a:solidFill>
                  <a:srgbClr val="161616"/>
                </a:solidFill>
                <a:latin typeface="Calibri"/>
              </a:rPr>
              <a:t> backend at runtime</a:t>
            </a:r>
          </a:p>
          <a:p>
            <a:r>
              <a:rPr sz="1600" dirty="0">
                <a:solidFill>
                  <a:srgbClr val="0F62FE"/>
                </a:solidFill>
                <a:latin typeface="Calibri"/>
              </a:rPr>
              <a:t>import </a:t>
            </a:r>
            <a:r>
              <a:rPr sz="1600" dirty="0" err="1">
                <a:solidFill>
                  <a:srgbClr val="0F62FE"/>
                </a:solidFill>
                <a:latin typeface="Calibri"/>
              </a:rPr>
              <a:t>sbd</a:t>
            </a:r>
            <a:r>
              <a:rPr sz="1600" dirty="0">
                <a:solidFill>
                  <a:srgbClr val="0F62FE"/>
                </a:solidFill>
                <a:latin typeface="Calibri"/>
              </a:rPr>
              <a:t> loads every backend that compiled — switch with one keyword </a:t>
            </a:r>
            <a:r>
              <a:rPr sz="1600" dirty="0" err="1">
                <a:solidFill>
                  <a:srgbClr val="0F62FE"/>
                </a:solidFill>
                <a:latin typeface="Calibri"/>
              </a:rPr>
              <a:t>arg</a:t>
            </a:r>
            <a:endParaRPr sz="1600" dirty="0">
              <a:solidFill>
                <a:srgbClr val="0F62FE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62FE"/>
                </a:solidFill>
                <a:latin typeface="Calibri"/>
              </a:rPr>
              <a:t>See what's available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74519"/>
            <a:ext cx="5486400" cy="1828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7200" y="1924519"/>
            <a:ext cx="5386400" cy="17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61616"/>
                </a:solidFill>
                <a:latin typeface="Menlo"/>
              </a:rPr>
              <a:t>import sbd</a:t>
            </a:r>
          </a:p>
          <a:p>
            <a:r>
              <a:rPr sz="140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sz="1400" b="1">
                <a:solidFill>
                  <a:srgbClr val="DA1E28"/>
                </a:solidFill>
                <a:latin typeface="Menlo"/>
              </a:rPr>
              <a:t>sbd.available_backends()</a:t>
            </a:r>
          </a:p>
          <a:p>
            <a:r>
              <a:rPr sz="1400">
                <a:solidFill>
                  <a:srgbClr val="161616"/>
                </a:solidFill>
                <a:latin typeface="Menlo"/>
              </a:rPr>
              <a:t>  → ['cpu', 'gpu', 'gpu-nvidia-omp']</a:t>
            </a:r>
          </a:p>
          <a:p>
            <a:r>
              <a:rPr sz="140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sz="1400" b="1">
                <a:solidFill>
                  <a:srgbClr val="DA1E28"/>
                </a:solidFill>
                <a:latin typeface="Menlo"/>
              </a:rPr>
              <a:t>sbd.print_info()  # version, hardware,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5352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F62FE"/>
                </a:solidFill>
                <a:latin typeface="Calibri"/>
              </a:rPr>
              <a:t>Switch backends — three equivalent paths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5352" y="1874519"/>
            <a:ext cx="5486400" cy="40233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95352" y="1924519"/>
            <a:ext cx="5386400" cy="39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9767A"/>
                </a:solidFill>
                <a:latin typeface="Menlo"/>
              </a:rPr>
              <a:t># 1. process-wide default at startup</a:t>
            </a:r>
          </a:p>
          <a:p>
            <a:r>
              <a:rPr sz="1400" b="1">
                <a:solidFill>
                  <a:srgbClr val="DA1E28"/>
                </a:solidFill>
                <a:latin typeface="Menlo"/>
              </a:rPr>
              <a:t>sbd.init(device='gpu')</a:t>
            </a:r>
          </a:p>
          <a:p>
            <a:r>
              <a:rPr sz="140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69767A"/>
                </a:solidFill>
                <a:latin typeface="Menlo"/>
              </a:rPr>
              <a:t># 2. per-call override, no re-init</a:t>
            </a:r>
          </a:p>
          <a:p>
            <a:r>
              <a:rPr sz="1400" b="1">
                <a:solidFill>
                  <a:srgbClr val="DA1E28"/>
                </a:solidFill>
                <a:latin typeface="Menlo"/>
              </a:rPr>
              <a:t>sbd.tpb_diag(..., device='gpu-omp')</a:t>
            </a:r>
          </a:p>
          <a:p>
            <a:r>
              <a:rPr sz="140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69767A"/>
                </a:solidFill>
                <a:latin typeface="Menlo"/>
              </a:rPr>
              <a:t># 3. through DeviceConfig (qiskit-addon-sqd path)</a:t>
            </a:r>
          </a:p>
          <a:p>
            <a:r>
              <a:rPr sz="1400" b="1">
                <a:solidFill>
                  <a:srgbClr val="DA1E28"/>
                </a:solidFill>
                <a:latin typeface="Menlo"/>
              </a:rPr>
              <a:t>solve_sci(..., device_config=DeviceConfig.gpu())</a:t>
            </a:r>
          </a:p>
          <a:p>
            <a:r>
              <a:rPr sz="140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sz="1400">
                <a:solidFill>
                  <a:srgbClr val="69767A"/>
                </a:solidFill>
                <a:latin typeface="Menlo"/>
              </a:rPr>
              <a:t># CLI: every example script accepts --device</a:t>
            </a:r>
          </a:p>
          <a:p>
            <a:r>
              <a:rPr sz="1400" b="1">
                <a:solidFill>
                  <a:srgbClr val="DA1E28"/>
                </a:solidFill>
                <a:latin typeface="Menlo"/>
              </a:rPr>
              <a:t>$ python run_sbd_diag.py --device gpu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69767A"/>
                </a:solidFill>
                <a:latin typeface="Calibri"/>
              </a:rPr>
              <a:t>All three return bit-equal energies.</a:t>
            </a:r>
          </a:p>
          <a:p>
            <a:r>
              <a:rPr sz="1500">
                <a:solidFill>
                  <a:srgbClr val="69767A"/>
                </a:solidFill>
                <a:latin typeface="Calibri"/>
              </a:rPr>
              <a:t>Backend choice doesn't move the eigenvalue.</a:t>
            </a:r>
          </a:p>
          <a:p>
            <a:r>
              <a:rPr sz="1500">
                <a:solidFill>
                  <a:srgbClr val="69767A"/>
                </a:solidFill>
                <a:latin typeface="Calibri"/>
              </a:rPr>
              <a:t>It moves the wallclock.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1616"/>
                </a:solidFill>
                <a:latin typeface="Calibri"/>
              </a:rPr>
              <a:t>Same call shape, very different invocation</a:t>
            </a:r>
          </a:p>
          <a:p>
            <a:r>
              <a:rPr sz="1600">
                <a:solidFill>
                  <a:srgbClr val="0F62FE"/>
                </a:solidFill>
                <a:latin typeface="Calibri"/>
              </a:rPr>
              <a:t>What the user calls vs what the wrapper does internally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4632" y="1188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161616"/>
                </a:solidFill>
                <a:latin typeface="Calibri"/>
              </a:rPr>
              <a:t>What the user calls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2440" y="1522727"/>
            <a:ext cx="11284928" cy="17543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4632" y="1461205"/>
            <a:ext cx="111471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Menlo"/>
              </a:rPr>
              <a:t># </a:t>
            </a:r>
            <a:r>
              <a:rPr lang="en-US" sz="1400" dirty="0" err="1">
                <a:latin typeface="Menlo"/>
              </a:rPr>
              <a:t>qiskit_addon_dice_solver.solve_fermion</a:t>
            </a:r>
            <a:endParaRPr lang="en-US" sz="1400" dirty="0">
              <a:latin typeface="Menlo"/>
            </a:endParaRPr>
          </a:p>
          <a:p>
            <a:r>
              <a:rPr lang="en-US" sz="1400" dirty="0">
                <a:solidFill>
                  <a:srgbClr val="161616"/>
                </a:solidFill>
                <a:latin typeface="Menlo"/>
              </a:rPr>
              <a:t>result = </a:t>
            </a:r>
            <a:r>
              <a:rPr lang="en-US" sz="1400" dirty="0" err="1">
                <a:solidFill>
                  <a:srgbClr val="161616"/>
                </a:solidFill>
                <a:latin typeface="Menlo"/>
              </a:rPr>
              <a:t>solve_sci</a:t>
            </a:r>
            <a:r>
              <a:rPr lang="en-US" sz="1400" dirty="0">
                <a:solidFill>
                  <a:srgbClr val="161616"/>
                </a:solidFill>
                <a:latin typeface="Menlo"/>
              </a:rPr>
              <a:t>(</a:t>
            </a:r>
            <a:r>
              <a:rPr lang="en-US" sz="1400" dirty="0" err="1">
                <a:solidFill>
                  <a:srgbClr val="161616"/>
                </a:solidFill>
                <a:latin typeface="Menlo"/>
              </a:rPr>
              <a:t>ci_strings</a:t>
            </a:r>
            <a:r>
              <a:rPr lang="en-US" sz="1400" dirty="0">
                <a:solidFill>
                  <a:srgbClr val="161616"/>
                </a:solidFill>
                <a:latin typeface="Menlo"/>
              </a:rPr>
              <a:t>, </a:t>
            </a:r>
            <a:r>
              <a:rPr lang="en-US" sz="1400" dirty="0" err="1">
                <a:solidFill>
                  <a:srgbClr val="161616"/>
                </a:solidFill>
                <a:latin typeface="Menlo"/>
              </a:rPr>
              <a:t>one_body_tensor</a:t>
            </a:r>
            <a:r>
              <a:rPr lang="en-US" sz="1400" dirty="0">
                <a:solidFill>
                  <a:srgbClr val="161616"/>
                </a:solidFill>
                <a:latin typeface="Menlo"/>
              </a:rPr>
              <a:t>, </a:t>
            </a:r>
            <a:r>
              <a:rPr lang="en-US" sz="1400" dirty="0" err="1">
                <a:solidFill>
                  <a:srgbClr val="161616"/>
                </a:solidFill>
                <a:latin typeface="Menlo"/>
              </a:rPr>
              <a:t>two_body_tensor</a:t>
            </a:r>
            <a:r>
              <a:rPr lang="en-US" sz="1400" dirty="0">
                <a:solidFill>
                  <a:srgbClr val="161616"/>
                </a:solidFill>
                <a:latin typeface="Menlo"/>
              </a:rPr>
              <a:t>,</a:t>
            </a:r>
          </a:p>
          <a:p>
            <a:r>
              <a:rPr lang="en-US" sz="1400" dirty="0">
                <a:solidFill>
                  <a:srgbClr val="161616"/>
                </a:solidFill>
                <a:latin typeface="Menlo"/>
              </a:rPr>
              <a:t>                   </a:t>
            </a:r>
            <a:r>
              <a:rPr lang="en-US" sz="1400" dirty="0" err="1">
                <a:solidFill>
                  <a:srgbClr val="161616"/>
                </a:solidFill>
                <a:latin typeface="Menlo"/>
              </a:rPr>
              <a:t>norb</a:t>
            </a:r>
            <a:r>
              <a:rPr lang="en-US" sz="1400" dirty="0">
                <a:solidFill>
                  <a:srgbClr val="161616"/>
                </a:solidFill>
                <a:latin typeface="Menlo"/>
              </a:rPr>
              <a:t>=</a:t>
            </a:r>
            <a:r>
              <a:rPr lang="en-US" sz="1400" dirty="0" err="1">
                <a:solidFill>
                  <a:srgbClr val="161616"/>
                </a:solidFill>
                <a:latin typeface="Menlo"/>
              </a:rPr>
              <a:t>norb</a:t>
            </a:r>
            <a:r>
              <a:rPr lang="en-US" sz="1400" dirty="0">
                <a:solidFill>
                  <a:srgbClr val="161616"/>
                </a:solidFill>
                <a:latin typeface="Menlo"/>
              </a:rPr>
              <a:t>, </a:t>
            </a:r>
            <a:r>
              <a:rPr lang="en-US" sz="1400" dirty="0" err="1">
                <a:solidFill>
                  <a:srgbClr val="161616"/>
                </a:solidFill>
                <a:latin typeface="Menlo"/>
              </a:rPr>
              <a:t>nelec</a:t>
            </a:r>
            <a:r>
              <a:rPr lang="en-US" sz="1400" dirty="0">
                <a:solidFill>
                  <a:srgbClr val="161616"/>
                </a:solidFill>
                <a:latin typeface="Menlo"/>
              </a:rPr>
              <a:t>=</a:t>
            </a:r>
            <a:r>
              <a:rPr lang="en-US" sz="1400" dirty="0" err="1">
                <a:solidFill>
                  <a:srgbClr val="161616"/>
                </a:solidFill>
                <a:latin typeface="Menlo"/>
              </a:rPr>
              <a:t>nelec</a:t>
            </a:r>
            <a:r>
              <a:rPr lang="en-US" sz="1400" dirty="0">
                <a:solidFill>
                  <a:srgbClr val="161616"/>
                </a:solidFill>
                <a:latin typeface="Menlo"/>
              </a:rPr>
              <a:t>)</a:t>
            </a:r>
            <a:endParaRPr lang="en-US" sz="1400" dirty="0">
              <a:latin typeface="Menlo"/>
            </a:endParaRPr>
          </a:p>
          <a:p>
            <a:r>
              <a:rPr lang="en-US" sz="1400" dirty="0">
                <a:latin typeface="Menlo"/>
              </a:rPr>
              <a:t> </a:t>
            </a:r>
          </a:p>
          <a:p>
            <a:r>
              <a:rPr lang="en-US" sz="1400" dirty="0">
                <a:latin typeface="Menlo"/>
              </a:rPr>
              <a:t># </a:t>
            </a:r>
            <a:r>
              <a:rPr lang="en-US" sz="1400" dirty="0" err="1">
                <a:latin typeface="Menlo"/>
              </a:rPr>
              <a:t>sbd.sbd_solver.solve_sci</a:t>
            </a:r>
            <a:r>
              <a:rPr lang="en-US" sz="1400" dirty="0">
                <a:latin typeface="Menlo"/>
              </a:rPr>
              <a:t>  (</a:t>
            </a:r>
            <a:r>
              <a:rPr lang="en-US" sz="1400" dirty="0" err="1">
                <a:latin typeface="Menlo"/>
              </a:rPr>
              <a:t>mpi_comm</a:t>
            </a:r>
            <a:r>
              <a:rPr lang="en-US" sz="1400" dirty="0">
                <a:latin typeface="Menlo"/>
              </a:rPr>
              <a:t> defaults to COMM_WORLD)</a:t>
            </a:r>
          </a:p>
          <a:p>
            <a:r>
              <a:rPr lang="en-US" sz="1400" dirty="0">
                <a:latin typeface="Menlo"/>
              </a:rPr>
              <a:t>result = </a:t>
            </a:r>
            <a:r>
              <a:rPr lang="en-US" sz="1400" dirty="0" err="1">
                <a:latin typeface="Menlo"/>
              </a:rPr>
              <a:t>solve_sci</a:t>
            </a:r>
            <a:r>
              <a:rPr lang="en-US" sz="1400" dirty="0">
                <a:latin typeface="Menlo"/>
              </a:rPr>
              <a:t>(</a:t>
            </a:r>
            <a:r>
              <a:rPr lang="en-US" sz="1400" dirty="0" err="1">
                <a:latin typeface="Menlo"/>
              </a:rPr>
              <a:t>ci_strings</a:t>
            </a:r>
            <a:r>
              <a:rPr lang="en-US" sz="1400" dirty="0">
                <a:latin typeface="Menlo"/>
              </a:rPr>
              <a:t>, </a:t>
            </a:r>
            <a:r>
              <a:rPr lang="en-US" sz="1400" dirty="0" err="1">
                <a:latin typeface="Menlo"/>
              </a:rPr>
              <a:t>one_body_tensor</a:t>
            </a:r>
            <a:r>
              <a:rPr lang="en-US" sz="1400" dirty="0">
                <a:latin typeface="Menlo"/>
              </a:rPr>
              <a:t>, </a:t>
            </a:r>
            <a:r>
              <a:rPr lang="en-US" sz="1400" dirty="0" err="1">
                <a:latin typeface="Menlo"/>
              </a:rPr>
              <a:t>two_body_tensor</a:t>
            </a:r>
            <a:r>
              <a:rPr lang="en-US" sz="1400" dirty="0">
                <a:latin typeface="Menlo"/>
              </a:rPr>
              <a:t>,</a:t>
            </a:r>
          </a:p>
          <a:p>
            <a:r>
              <a:rPr lang="en-US" sz="1400" dirty="0">
                <a:latin typeface="Menlo"/>
              </a:rPr>
              <a:t>                   </a:t>
            </a:r>
            <a:r>
              <a:rPr lang="en-US" sz="1400" dirty="0" err="1">
                <a:latin typeface="Menlo"/>
              </a:rPr>
              <a:t>norb</a:t>
            </a:r>
            <a:r>
              <a:rPr lang="en-US" sz="1400" dirty="0">
                <a:latin typeface="Menlo"/>
              </a:rPr>
              <a:t>=</a:t>
            </a:r>
            <a:r>
              <a:rPr lang="en-US" sz="1400" dirty="0" err="1">
                <a:latin typeface="Menlo"/>
              </a:rPr>
              <a:t>norb</a:t>
            </a:r>
            <a:r>
              <a:rPr lang="en-US" sz="1400" dirty="0">
                <a:latin typeface="Menlo"/>
              </a:rPr>
              <a:t>, </a:t>
            </a:r>
            <a:r>
              <a:rPr lang="en-US" sz="1400" dirty="0" err="1">
                <a:latin typeface="Menlo"/>
              </a:rPr>
              <a:t>nelec</a:t>
            </a:r>
            <a:r>
              <a:rPr lang="en-US" sz="1400" dirty="0">
                <a:latin typeface="Menlo"/>
              </a:rPr>
              <a:t>=</a:t>
            </a:r>
            <a:r>
              <a:rPr lang="en-US" sz="1400" dirty="0" err="1">
                <a:latin typeface="Menlo"/>
              </a:rPr>
              <a:t>nelec</a:t>
            </a:r>
            <a:r>
              <a:rPr lang="en-US" sz="1400" dirty="0">
                <a:latin typeface="Menlo"/>
              </a:rPr>
              <a:t>, </a:t>
            </a:r>
            <a:r>
              <a:rPr lang="en-US" sz="1400" b="1" dirty="0" err="1">
                <a:latin typeface="Menlo"/>
              </a:rPr>
              <a:t>device_config</a:t>
            </a:r>
            <a:r>
              <a:rPr lang="en-US" sz="1400" b="1" dirty="0">
                <a:latin typeface="Menlo"/>
              </a:rPr>
              <a:t>=</a:t>
            </a:r>
            <a:r>
              <a:rPr lang="en-US" sz="1400" b="1" dirty="0" err="1">
                <a:latin typeface="Menlo"/>
              </a:rPr>
              <a:t>DeviceConfig.gpu</a:t>
            </a:r>
            <a:r>
              <a:rPr lang="en-US" sz="1400" b="1" dirty="0">
                <a:latin typeface="Menlo"/>
              </a:rPr>
              <a:t>()</a:t>
            </a:r>
            <a:r>
              <a:rPr lang="en-US" sz="1400" dirty="0">
                <a:latin typeface="Menlo"/>
              </a:rPr>
              <a:t>)</a:t>
            </a:r>
          </a:p>
          <a:p>
            <a:r>
              <a:rPr lang="en-US" sz="1400" dirty="0">
                <a:latin typeface="Menlo"/>
              </a:rPr>
              <a:t># Both return </a:t>
            </a:r>
            <a:r>
              <a:rPr lang="en-US" sz="1400" dirty="0" err="1">
                <a:latin typeface="Menlo"/>
              </a:rPr>
              <a:t>SCIResult</a:t>
            </a:r>
            <a:r>
              <a:rPr lang="en-US" sz="1400" dirty="0">
                <a:latin typeface="Menlo"/>
              </a:rPr>
              <a:t>: </a:t>
            </a:r>
            <a:r>
              <a:rPr lang="en-US" sz="1400" dirty="0" err="1">
                <a:latin typeface="Menlo"/>
              </a:rPr>
              <a:t>result.energy</a:t>
            </a:r>
            <a:r>
              <a:rPr lang="en-US" sz="1400" dirty="0">
                <a:latin typeface="Menlo"/>
              </a:rPr>
              <a:t>, </a:t>
            </a:r>
            <a:r>
              <a:rPr lang="en-US" sz="1400" dirty="0" err="1">
                <a:latin typeface="Menlo"/>
              </a:rPr>
              <a:t>result.sci_state</a:t>
            </a:r>
            <a:r>
              <a:rPr lang="en-US" sz="1400" dirty="0">
                <a:latin typeface="Menlo"/>
              </a:rPr>
              <a:t>, </a:t>
            </a:r>
            <a:r>
              <a:rPr lang="en-US" sz="1400" dirty="0" err="1">
                <a:latin typeface="Menlo"/>
              </a:rPr>
              <a:t>result.orbital_occupancies</a:t>
            </a:r>
            <a:endParaRPr lang="en-US" sz="1400" dirty="0">
              <a:latin typeface="Menl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4632" y="3383280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DA1E28"/>
                </a:solidFill>
                <a:latin typeface="Calibri"/>
              </a:rPr>
              <a:t>Inside Dice</a:t>
            </a:r>
            <a:r>
              <a:rPr lang="en-US" sz="1600" b="1" dirty="0">
                <a:solidFill>
                  <a:srgbClr val="DA1E28"/>
                </a:solidFill>
                <a:latin typeface="Calibri"/>
              </a:rPr>
              <a:t> Solver</a:t>
            </a:r>
            <a:r>
              <a:rPr sz="1600" b="1" dirty="0">
                <a:solidFill>
                  <a:srgbClr val="DA1E28"/>
                </a:solidFill>
                <a:latin typeface="Calibri"/>
              </a:rPr>
              <a:t>'s wrapper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632" y="3749040"/>
            <a:ext cx="5486400" cy="2926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3799040"/>
            <a:ext cx="5386400" cy="28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 err="1">
                <a:solidFill>
                  <a:srgbClr val="161616"/>
                </a:solidFill>
                <a:latin typeface="Menlo"/>
              </a:rPr>
              <a:t>dice_dir</a:t>
            </a:r>
            <a:r>
              <a:rPr sz="1300" dirty="0">
                <a:solidFill>
                  <a:srgbClr val="161616"/>
                </a:solidFill>
                <a:latin typeface="Menlo"/>
              </a:rPr>
              <a:t> = Path(</a:t>
            </a:r>
            <a:r>
              <a:rPr sz="1300" dirty="0" err="1">
                <a:solidFill>
                  <a:srgbClr val="161616"/>
                </a:solidFill>
                <a:latin typeface="Menlo"/>
              </a:rPr>
              <a:t>tempfile.mkdtemp</a:t>
            </a:r>
            <a:r>
              <a:rPr sz="1300" dirty="0">
                <a:solidFill>
                  <a:srgbClr val="161616"/>
                </a:solidFill>
                <a:latin typeface="Menlo"/>
              </a:rPr>
              <a:t>(</a:t>
            </a:r>
          </a:p>
          <a:p>
            <a:r>
              <a:rPr sz="1300" dirty="0">
                <a:solidFill>
                  <a:srgbClr val="161616"/>
                </a:solidFill>
                <a:latin typeface="Menlo"/>
              </a:rPr>
              <a:t>    prefix='</a:t>
            </a:r>
            <a:r>
              <a:rPr sz="1300" dirty="0" err="1">
                <a:solidFill>
                  <a:srgbClr val="161616"/>
                </a:solidFill>
                <a:latin typeface="Menlo"/>
              </a:rPr>
              <a:t>dice_cli_files</a:t>
            </a:r>
            <a:r>
              <a:rPr sz="1300" dirty="0">
                <a:solidFill>
                  <a:srgbClr val="161616"/>
                </a:solidFill>
                <a:latin typeface="Menlo"/>
              </a:rPr>
              <a:t>_', ...))</a:t>
            </a:r>
          </a:p>
          <a:p>
            <a:r>
              <a:rPr sz="1300" dirty="0" err="1">
                <a:solidFill>
                  <a:srgbClr val="161616"/>
                </a:solidFill>
                <a:latin typeface="Menlo"/>
              </a:rPr>
              <a:t>tools.fcidump.from_integrals</a:t>
            </a:r>
            <a:r>
              <a:rPr sz="1300" dirty="0">
                <a:solidFill>
                  <a:srgbClr val="161616"/>
                </a:solidFill>
                <a:latin typeface="Menlo"/>
              </a:rPr>
              <a:t>(</a:t>
            </a:r>
          </a:p>
          <a:p>
            <a:r>
              <a:rPr sz="1300" dirty="0">
                <a:solidFill>
                  <a:srgbClr val="161616"/>
                </a:solidFill>
                <a:latin typeface="Menlo"/>
              </a:rPr>
              <a:t>    </a:t>
            </a:r>
            <a:r>
              <a:rPr sz="1300" dirty="0" err="1">
                <a:solidFill>
                  <a:srgbClr val="161616"/>
                </a:solidFill>
                <a:latin typeface="Menlo"/>
              </a:rPr>
              <a:t>dice_dir</a:t>
            </a:r>
            <a:r>
              <a:rPr sz="1300" dirty="0">
                <a:solidFill>
                  <a:srgbClr val="161616"/>
                </a:solidFill>
                <a:latin typeface="Menlo"/>
              </a:rPr>
              <a:t> / '</a:t>
            </a:r>
            <a:r>
              <a:rPr sz="1300" dirty="0" err="1">
                <a:solidFill>
                  <a:srgbClr val="161616"/>
                </a:solidFill>
                <a:latin typeface="Menlo"/>
              </a:rPr>
              <a:t>fcidump.txt</a:t>
            </a:r>
            <a:r>
              <a:rPr sz="1300" dirty="0">
                <a:solidFill>
                  <a:srgbClr val="161616"/>
                </a:solidFill>
                <a:latin typeface="Menlo"/>
              </a:rPr>
              <a:t>', ...)</a:t>
            </a:r>
          </a:p>
          <a:p>
            <a:r>
              <a:rPr sz="1300" dirty="0">
                <a:solidFill>
                  <a:srgbClr val="161616"/>
                </a:solidFill>
                <a:latin typeface="Menlo"/>
              </a:rPr>
              <a:t>_</a:t>
            </a:r>
            <a:r>
              <a:rPr sz="1300" dirty="0" err="1">
                <a:solidFill>
                  <a:srgbClr val="161616"/>
                </a:solidFill>
                <a:latin typeface="Menlo"/>
              </a:rPr>
              <a:t>write_input_files</a:t>
            </a:r>
            <a:r>
              <a:rPr sz="1300" dirty="0">
                <a:solidFill>
                  <a:srgbClr val="161616"/>
                </a:solidFill>
                <a:latin typeface="Menlo"/>
              </a:rPr>
              <a:t>(...)</a:t>
            </a:r>
          </a:p>
          <a:p>
            <a:r>
              <a:rPr sz="1300" dirty="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sz="1300" b="1" dirty="0" err="1">
                <a:solidFill>
                  <a:srgbClr val="DA1E28"/>
                </a:solidFill>
                <a:latin typeface="Menlo"/>
              </a:rPr>
              <a:t>dice_call</a:t>
            </a:r>
            <a:r>
              <a:rPr sz="1300" b="1" dirty="0">
                <a:solidFill>
                  <a:srgbClr val="DA1E28"/>
                </a:solidFill>
                <a:latin typeface="Menlo"/>
              </a:rPr>
              <a:t> = ['</a:t>
            </a:r>
            <a:r>
              <a:rPr sz="1300" b="1" dirty="0" err="1">
                <a:solidFill>
                  <a:srgbClr val="DA1E28"/>
                </a:solidFill>
                <a:latin typeface="Menlo"/>
              </a:rPr>
              <a:t>mpirun</a:t>
            </a:r>
            <a:r>
              <a:rPr sz="1300" b="1" dirty="0">
                <a:solidFill>
                  <a:srgbClr val="DA1E28"/>
                </a:solidFill>
                <a:latin typeface="Menlo"/>
              </a:rPr>
              <a:t>', *</a:t>
            </a:r>
            <a:r>
              <a:rPr sz="1300" b="1" dirty="0" err="1">
                <a:solidFill>
                  <a:srgbClr val="DA1E28"/>
                </a:solidFill>
                <a:latin typeface="Menlo"/>
              </a:rPr>
              <a:t>mpirun_options</a:t>
            </a:r>
            <a:r>
              <a:rPr sz="1300" b="1" dirty="0">
                <a:solidFill>
                  <a:srgbClr val="DA1E28"/>
                </a:solidFill>
                <a:latin typeface="Menlo"/>
              </a:rPr>
              <a:t>,</a:t>
            </a:r>
          </a:p>
          <a:p>
            <a:r>
              <a:rPr sz="1300" b="1" dirty="0">
                <a:solidFill>
                  <a:srgbClr val="DA1E28"/>
                </a:solidFill>
                <a:latin typeface="Menlo"/>
              </a:rPr>
              <a:t>             '&lt;…&gt;/bin/Dice']</a:t>
            </a:r>
          </a:p>
          <a:p>
            <a:r>
              <a:rPr sz="1300" b="1" dirty="0" err="1">
                <a:solidFill>
                  <a:srgbClr val="DA1E28"/>
                </a:solidFill>
                <a:latin typeface="Menlo"/>
              </a:rPr>
              <a:t>subprocess.run</a:t>
            </a:r>
            <a:r>
              <a:rPr sz="1300" b="1" dirty="0">
                <a:solidFill>
                  <a:srgbClr val="DA1E28"/>
                </a:solidFill>
                <a:latin typeface="Menlo"/>
              </a:rPr>
              <a:t>(</a:t>
            </a:r>
            <a:r>
              <a:rPr sz="1300" b="1" dirty="0" err="1">
                <a:solidFill>
                  <a:srgbClr val="DA1E28"/>
                </a:solidFill>
                <a:latin typeface="Menlo"/>
              </a:rPr>
              <a:t>dice_call</a:t>
            </a:r>
            <a:r>
              <a:rPr sz="1300" b="1" dirty="0">
                <a:solidFill>
                  <a:srgbClr val="DA1E28"/>
                </a:solidFill>
                <a:latin typeface="Menlo"/>
              </a:rPr>
              <a:t>, </a:t>
            </a:r>
            <a:r>
              <a:rPr sz="1300" b="1" dirty="0" err="1">
                <a:solidFill>
                  <a:srgbClr val="DA1E28"/>
                </a:solidFill>
                <a:latin typeface="Menlo"/>
              </a:rPr>
              <a:t>cwd</a:t>
            </a:r>
            <a:r>
              <a:rPr sz="1300" b="1" dirty="0">
                <a:solidFill>
                  <a:srgbClr val="DA1E28"/>
                </a:solidFill>
                <a:latin typeface="Menlo"/>
              </a:rPr>
              <a:t>=</a:t>
            </a:r>
            <a:r>
              <a:rPr sz="1300" b="1" dirty="0" err="1">
                <a:solidFill>
                  <a:srgbClr val="DA1E28"/>
                </a:solidFill>
                <a:latin typeface="Menlo"/>
              </a:rPr>
              <a:t>dice_dir</a:t>
            </a:r>
            <a:r>
              <a:rPr sz="1300" b="1" dirty="0">
                <a:solidFill>
                  <a:srgbClr val="DA1E28"/>
                </a:solidFill>
                <a:latin typeface="Menlo"/>
              </a:rPr>
              <a:t>,</a:t>
            </a:r>
          </a:p>
          <a:p>
            <a:r>
              <a:rPr sz="1300" b="1" dirty="0">
                <a:solidFill>
                  <a:srgbClr val="DA1E28"/>
                </a:solidFill>
                <a:latin typeface="Menlo"/>
              </a:rPr>
              <a:t>               </a:t>
            </a:r>
            <a:r>
              <a:rPr sz="1300" b="1" dirty="0" err="1">
                <a:solidFill>
                  <a:srgbClr val="DA1E28"/>
                </a:solidFill>
                <a:latin typeface="Menlo"/>
              </a:rPr>
              <a:t>stdout</a:t>
            </a:r>
            <a:r>
              <a:rPr sz="1300" b="1" dirty="0">
                <a:solidFill>
                  <a:srgbClr val="DA1E28"/>
                </a:solidFill>
                <a:latin typeface="Menlo"/>
              </a:rPr>
              <a:t>=logfile, stderr=logfile)</a:t>
            </a:r>
          </a:p>
          <a:p>
            <a:r>
              <a:rPr sz="1300" dirty="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sz="1300" dirty="0">
                <a:solidFill>
                  <a:srgbClr val="161616"/>
                </a:solidFill>
                <a:latin typeface="Menlo"/>
              </a:rPr>
              <a:t>_</a:t>
            </a:r>
            <a:r>
              <a:rPr sz="1300" dirty="0" err="1">
                <a:solidFill>
                  <a:srgbClr val="161616"/>
                </a:solidFill>
                <a:latin typeface="Menlo"/>
              </a:rPr>
              <a:t>read_dice_outputs</a:t>
            </a:r>
            <a:r>
              <a:rPr sz="1300" dirty="0">
                <a:solidFill>
                  <a:srgbClr val="161616"/>
                </a:solidFill>
                <a:latin typeface="Menlo"/>
              </a:rPr>
              <a:t>(</a:t>
            </a:r>
            <a:r>
              <a:rPr sz="1300" dirty="0" err="1">
                <a:solidFill>
                  <a:srgbClr val="161616"/>
                </a:solidFill>
                <a:latin typeface="Menlo"/>
              </a:rPr>
              <a:t>dice_dir</a:t>
            </a:r>
            <a:r>
              <a:rPr sz="1300" dirty="0">
                <a:solidFill>
                  <a:srgbClr val="161616"/>
                </a:solidFill>
                <a:latin typeface="Menlo"/>
              </a:rPr>
              <a:t>, ...)</a:t>
            </a:r>
          </a:p>
          <a:p>
            <a:r>
              <a:rPr sz="1300" dirty="0" err="1">
                <a:solidFill>
                  <a:srgbClr val="161616"/>
                </a:solidFill>
                <a:latin typeface="Menlo"/>
              </a:rPr>
              <a:t>shutil.rmtree</a:t>
            </a:r>
            <a:r>
              <a:rPr sz="1300" dirty="0">
                <a:solidFill>
                  <a:srgbClr val="161616"/>
                </a:solidFill>
                <a:latin typeface="Menlo"/>
              </a:rPr>
              <a:t>(</a:t>
            </a:r>
            <a:r>
              <a:rPr sz="1300" dirty="0" err="1">
                <a:solidFill>
                  <a:srgbClr val="161616"/>
                </a:solidFill>
                <a:latin typeface="Menlo"/>
              </a:rPr>
              <a:t>dice_dir</a:t>
            </a:r>
            <a:r>
              <a:rPr sz="1300" dirty="0">
                <a:solidFill>
                  <a:srgbClr val="161616"/>
                </a:solidFill>
                <a:latin typeface="Menlo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409115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62FE"/>
                </a:solidFill>
                <a:latin typeface="Calibri"/>
              </a:rPr>
              <a:t>Inside SBD's wrapper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774875"/>
            <a:ext cx="5783288" cy="2850245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7920" y="3824875"/>
            <a:ext cx="5733288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rgbClr val="161616"/>
                </a:solidFill>
                <a:latin typeface="Menlo"/>
              </a:rPr>
              <a:t>def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tpb_diag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(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fcidump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,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adet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,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bdet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,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sbd_data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,</a:t>
            </a:r>
          </a:p>
          <a:p>
            <a:r>
              <a:rPr lang="en-US" sz="1300" dirty="0">
                <a:solidFill>
                  <a:srgbClr val="161616"/>
                </a:solidFill>
                <a:latin typeface="Menlo"/>
              </a:rPr>
              <a:t>            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loadname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='',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savename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='', device=None):</a:t>
            </a:r>
          </a:p>
          <a:p>
            <a:endParaRPr lang="en-US" sz="1300" dirty="0">
              <a:solidFill>
                <a:srgbClr val="161616"/>
              </a:solidFill>
              <a:latin typeface="Menlo"/>
            </a:endParaRPr>
          </a:p>
          <a:p>
            <a:r>
              <a:rPr lang="en-US" sz="1300" dirty="0">
                <a:solidFill>
                  <a:srgbClr val="161616"/>
                </a:solidFill>
                <a:latin typeface="Menlo"/>
              </a:rPr>
              <a:t>    _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ensure_initialized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()           # MPI comm cached</a:t>
            </a:r>
          </a:p>
          <a:p>
            <a:r>
              <a:rPr lang="en-US" sz="1300" b="1" dirty="0">
                <a:solidFill>
                  <a:srgbClr val="DA1E28"/>
                </a:solidFill>
                <a:latin typeface="Menlo"/>
              </a:rPr>
              <a:t>    backend = </a:t>
            </a:r>
            <a:r>
              <a:rPr lang="en-US" sz="1300" b="1" dirty="0" err="1">
                <a:solidFill>
                  <a:srgbClr val="DA1E28"/>
                </a:solidFill>
                <a:latin typeface="Menlo"/>
              </a:rPr>
              <a:t>get_backend</a:t>
            </a:r>
            <a:r>
              <a:rPr lang="en-US" sz="1300" b="1" dirty="0">
                <a:solidFill>
                  <a:srgbClr val="DA1E28"/>
                </a:solidFill>
                <a:latin typeface="Menlo"/>
              </a:rPr>
              <a:t>(device)   #</a:t>
            </a:r>
            <a:r>
              <a:rPr lang="en-US" sz="1300" b="1" dirty="0" err="1">
                <a:solidFill>
                  <a:srgbClr val="DA1E28"/>
                </a:solidFill>
                <a:latin typeface="Menlo"/>
              </a:rPr>
              <a:t>cpu|gpu|gpu-omp</a:t>
            </a:r>
            <a:endParaRPr lang="en-US" sz="1300" b="1" dirty="0">
              <a:solidFill>
                <a:srgbClr val="DA1E28"/>
              </a:solidFill>
              <a:latin typeface="Menlo"/>
            </a:endParaRPr>
          </a:p>
          <a:p>
            <a:r>
              <a:rPr lang="en-US" sz="1300" dirty="0">
                <a:solidFill>
                  <a:srgbClr val="161616"/>
                </a:solidFill>
                <a:latin typeface="Menlo"/>
              </a:rPr>
              <a:t>    return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backend.tpb_diag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(</a:t>
            </a:r>
          </a:p>
          <a:p>
            <a:r>
              <a:rPr lang="en-US" sz="1300" b="1" dirty="0">
                <a:solidFill>
                  <a:srgbClr val="DA1E28"/>
                </a:solidFill>
                <a:latin typeface="Menlo"/>
              </a:rPr>
              <a:t>        _</a:t>
            </a:r>
            <a:r>
              <a:rPr lang="en-US" sz="1300" b="1" dirty="0" err="1">
                <a:solidFill>
                  <a:srgbClr val="DA1E28"/>
                </a:solidFill>
                <a:latin typeface="Menlo"/>
              </a:rPr>
              <a:t>global_comm</a:t>
            </a:r>
            <a:r>
              <a:rPr lang="en-US" sz="1300" b="1" dirty="0">
                <a:solidFill>
                  <a:srgbClr val="DA1E28"/>
                </a:solidFill>
                <a:latin typeface="Menlo"/>
              </a:rPr>
              <a:t>,               # MPI communicator</a:t>
            </a:r>
          </a:p>
          <a:p>
            <a:r>
              <a:rPr lang="en-US" sz="1300" dirty="0">
                <a:solidFill>
                  <a:srgbClr val="161616"/>
                </a:solidFill>
                <a:latin typeface="Menlo"/>
              </a:rPr>
              <a:t>       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sbd_data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,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fcidump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,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adet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,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bdet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,</a:t>
            </a:r>
          </a:p>
          <a:p>
            <a:r>
              <a:rPr lang="en-US" sz="1300" dirty="0">
                <a:solidFill>
                  <a:srgbClr val="161616"/>
                </a:solidFill>
                <a:latin typeface="Menlo"/>
              </a:rPr>
              <a:t>       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loadname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,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savename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,</a:t>
            </a:r>
          </a:p>
          <a:p>
            <a:r>
              <a:rPr lang="en-US" sz="1300" dirty="0">
                <a:solidFill>
                  <a:srgbClr val="161616"/>
                </a:solidFill>
                <a:latin typeface="Menlo"/>
              </a:rPr>
              <a:t>    )</a:t>
            </a:r>
          </a:p>
          <a:p>
            <a:r>
              <a:rPr lang="en-US" sz="1300" dirty="0">
                <a:solidFill>
                  <a:srgbClr val="161616"/>
                </a:solidFill>
                <a:latin typeface="Menlo"/>
              </a:rPr>
              <a:t># pybind11 → C++</a:t>
            </a:r>
          </a:p>
          <a:p>
            <a:r>
              <a:rPr lang="en-US" sz="1300" dirty="0">
                <a:solidFill>
                  <a:srgbClr val="69767A"/>
                </a:solidFill>
                <a:latin typeface="Menlo"/>
              </a:rPr>
              <a:t># pybind11 dispatches into</a:t>
            </a:r>
          </a:p>
          <a:p>
            <a:r>
              <a:rPr lang="en-US" sz="1300" dirty="0">
                <a:solidFill>
                  <a:srgbClr val="69767A"/>
                </a:solidFill>
                <a:latin typeface="Menlo"/>
              </a:rPr>
              <a:t># _</a:t>
            </a:r>
            <a:r>
              <a:rPr lang="en-US" sz="1300" dirty="0" err="1">
                <a:solidFill>
                  <a:srgbClr val="69767A"/>
                </a:solidFill>
                <a:latin typeface="Menlo"/>
              </a:rPr>
              <a:t>core_cpu</a:t>
            </a:r>
            <a:r>
              <a:rPr lang="en-US" sz="1300" dirty="0">
                <a:solidFill>
                  <a:srgbClr val="69767A"/>
                </a:solidFill>
                <a:latin typeface="Menlo"/>
              </a:rPr>
              <a:t> / _</a:t>
            </a:r>
            <a:r>
              <a:rPr lang="en-US" sz="1300" dirty="0" err="1">
                <a:solidFill>
                  <a:srgbClr val="69767A"/>
                </a:solidFill>
                <a:latin typeface="Menlo"/>
              </a:rPr>
              <a:t>core_gpu</a:t>
            </a:r>
            <a:r>
              <a:rPr lang="en-US" sz="1300" dirty="0">
                <a:solidFill>
                  <a:srgbClr val="69767A"/>
                </a:solidFill>
                <a:latin typeface="Menlo"/>
              </a:rPr>
              <a:t> / _</a:t>
            </a:r>
            <a:r>
              <a:rPr lang="en-US" sz="1300" dirty="0" err="1">
                <a:solidFill>
                  <a:srgbClr val="69767A"/>
                </a:solidFill>
                <a:latin typeface="Menlo"/>
              </a:rPr>
              <a:t>core_gpu_omp_nvidia</a:t>
            </a:r>
            <a:endParaRPr lang="en-US" sz="1300" dirty="0">
              <a:solidFill>
                <a:srgbClr val="69767A"/>
              </a:solidFill>
              <a:latin typeface="Menlo"/>
            </a:endParaRPr>
          </a:p>
          <a:p>
            <a:r>
              <a:rPr lang="en-US" sz="1300" dirty="0">
                <a:solidFill>
                  <a:srgbClr val="69767A"/>
                </a:solidFill>
                <a:latin typeface="Menlo"/>
              </a:rPr>
              <a:t># in this Python process,</a:t>
            </a:r>
          </a:p>
          <a:p>
            <a:endParaRPr lang="en-US" sz="1300" dirty="0">
              <a:solidFill>
                <a:srgbClr val="161616"/>
              </a:solidFill>
              <a:latin typeface="Menl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161616"/>
                </a:solidFill>
                <a:latin typeface="Calibri"/>
              </a:rPr>
              <a:t>SQD with SBD — bitstrings in, energy out</a:t>
            </a:r>
          </a:p>
          <a:p>
            <a:r>
              <a:rPr sz="1600" dirty="0">
                <a:solidFill>
                  <a:srgbClr val="0F62FE"/>
                </a:solidFill>
                <a:latin typeface="Calibri"/>
              </a:rPr>
              <a:t>Same shape as plugging in </a:t>
            </a:r>
            <a:r>
              <a:rPr sz="1600" dirty="0" err="1">
                <a:solidFill>
                  <a:srgbClr val="0F62FE"/>
                </a:solidFill>
                <a:latin typeface="Calibri"/>
              </a:rPr>
              <a:t>qiskit</a:t>
            </a:r>
            <a:r>
              <a:rPr sz="1600" dirty="0">
                <a:solidFill>
                  <a:srgbClr val="0F62FE"/>
                </a:solidFill>
                <a:latin typeface="Calibri"/>
              </a:rPr>
              <a:t>-addon-dice-solver; only </a:t>
            </a:r>
            <a:r>
              <a:rPr sz="1600" dirty="0" err="1">
                <a:solidFill>
                  <a:srgbClr val="0F62FE"/>
                </a:solidFill>
                <a:latin typeface="Calibri"/>
              </a:rPr>
              <a:t>sci_solver</a:t>
            </a:r>
            <a:r>
              <a:rPr sz="1600" dirty="0">
                <a:solidFill>
                  <a:srgbClr val="0F62FE"/>
                </a:solidFill>
                <a:latin typeface="Calibri"/>
              </a:rPr>
              <a:t>= changes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11247120" cy="48463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7200" y="1513040"/>
            <a:ext cx="11147120" cy="5093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rgbClr val="69767A"/>
                </a:solidFill>
                <a:latin typeface="Menlo"/>
              </a:rPr>
              <a:t># 1. Hamiltonian from FCIDUMP</a:t>
            </a:r>
          </a:p>
          <a:p>
            <a:r>
              <a:rPr lang="en-US" sz="1300" dirty="0">
                <a:solidFill>
                  <a:srgbClr val="161616"/>
                </a:solidFill>
                <a:latin typeface="Menlo"/>
              </a:rPr>
              <a:t>mf =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tools.fcidump.to_scf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('data/h2o/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fcidump.txt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')</a:t>
            </a:r>
          </a:p>
          <a:p>
            <a:r>
              <a:rPr lang="en-US" sz="1300" dirty="0" err="1">
                <a:solidFill>
                  <a:srgbClr val="161616"/>
                </a:solidFill>
                <a:latin typeface="Menlo"/>
              </a:rPr>
              <a:t>hcore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,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eri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 =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mf.get_hcore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(), ao2mo.restore(1, mf._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eri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,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norb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)</a:t>
            </a:r>
          </a:p>
          <a:p>
            <a:r>
              <a:rPr lang="en-US" sz="1300" dirty="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lang="en-US" sz="1300" dirty="0">
                <a:solidFill>
                  <a:srgbClr val="69767A"/>
                </a:solidFill>
                <a:latin typeface="Menlo"/>
              </a:rPr>
              <a:t># 2. Bitstrings — quantum-measurement counts → </a:t>
            </a:r>
            <a:r>
              <a:rPr lang="en-US" sz="1300" dirty="0" err="1">
                <a:solidFill>
                  <a:srgbClr val="69767A"/>
                </a:solidFill>
                <a:latin typeface="Menlo"/>
              </a:rPr>
              <a:t>BitArray</a:t>
            </a:r>
            <a:endParaRPr lang="en-US" sz="1300" dirty="0">
              <a:solidFill>
                <a:srgbClr val="69767A"/>
              </a:solidFill>
              <a:latin typeface="Menlo"/>
            </a:endParaRPr>
          </a:p>
          <a:p>
            <a:r>
              <a:rPr lang="en-US" sz="1300" dirty="0">
                <a:solidFill>
                  <a:srgbClr val="161616"/>
                </a:solidFill>
                <a:latin typeface="Menlo"/>
              </a:rPr>
              <a:t>counts =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json.load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(open('python/examples/count_dict_h2o.json'))</a:t>
            </a:r>
          </a:p>
          <a:p>
            <a:r>
              <a:rPr lang="en-US" sz="1300" b="1" dirty="0" err="1">
                <a:solidFill>
                  <a:srgbClr val="DA1E28"/>
                </a:solidFill>
                <a:latin typeface="Menlo"/>
              </a:rPr>
              <a:t>bit_array</a:t>
            </a:r>
            <a:r>
              <a:rPr lang="en-US" sz="1300" b="1" dirty="0">
                <a:solidFill>
                  <a:srgbClr val="DA1E28"/>
                </a:solidFill>
                <a:latin typeface="Menlo"/>
              </a:rPr>
              <a:t> = </a:t>
            </a:r>
            <a:r>
              <a:rPr lang="en-US" sz="1300" b="1" dirty="0" err="1">
                <a:solidFill>
                  <a:srgbClr val="DA1E28"/>
                </a:solidFill>
                <a:latin typeface="Menlo"/>
              </a:rPr>
              <a:t>BitArray.from_bool_array</a:t>
            </a:r>
            <a:r>
              <a:rPr lang="en-US" sz="1300" b="1" dirty="0">
                <a:solidFill>
                  <a:srgbClr val="DA1E28"/>
                </a:solidFill>
                <a:latin typeface="Menlo"/>
              </a:rPr>
              <a:t>(_</a:t>
            </a:r>
            <a:r>
              <a:rPr lang="en-US" sz="1300" b="1" dirty="0" err="1">
                <a:solidFill>
                  <a:srgbClr val="DA1E28"/>
                </a:solidFill>
                <a:latin typeface="Menlo"/>
              </a:rPr>
              <a:t>decode_counts</a:t>
            </a:r>
            <a:r>
              <a:rPr lang="en-US" sz="1300" b="1" dirty="0">
                <a:solidFill>
                  <a:srgbClr val="DA1E28"/>
                </a:solidFill>
                <a:latin typeface="Menlo"/>
              </a:rPr>
              <a:t>(counts))</a:t>
            </a:r>
          </a:p>
          <a:p>
            <a:r>
              <a:rPr lang="en-US" sz="1300" dirty="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lang="en-US" sz="1300" dirty="0">
                <a:solidFill>
                  <a:srgbClr val="69767A"/>
                </a:solidFill>
                <a:latin typeface="Menlo"/>
              </a:rPr>
              <a:t># 3. Wire SBD into </a:t>
            </a:r>
            <a:r>
              <a:rPr lang="en-US" sz="1300" dirty="0" err="1">
                <a:solidFill>
                  <a:srgbClr val="69767A"/>
                </a:solidFill>
                <a:latin typeface="Menlo"/>
              </a:rPr>
              <a:t>qiskit</a:t>
            </a:r>
            <a:r>
              <a:rPr lang="en-US" sz="1300" dirty="0">
                <a:solidFill>
                  <a:srgbClr val="69767A"/>
                </a:solidFill>
                <a:latin typeface="Menlo"/>
              </a:rPr>
              <a:t>-addon-</a:t>
            </a:r>
            <a:r>
              <a:rPr lang="en-US" sz="1300" dirty="0" err="1">
                <a:solidFill>
                  <a:srgbClr val="69767A"/>
                </a:solidFill>
                <a:latin typeface="Menlo"/>
              </a:rPr>
              <a:t>sqd's</a:t>
            </a:r>
            <a:r>
              <a:rPr lang="en-US" sz="1300" dirty="0">
                <a:solidFill>
                  <a:srgbClr val="69767A"/>
                </a:solidFill>
                <a:latin typeface="Menlo"/>
              </a:rPr>
              <a:t> </a:t>
            </a:r>
            <a:r>
              <a:rPr lang="en-US" sz="1300" dirty="0" err="1">
                <a:solidFill>
                  <a:srgbClr val="69767A"/>
                </a:solidFill>
                <a:latin typeface="Menlo"/>
              </a:rPr>
              <a:t>sci_solver</a:t>
            </a:r>
            <a:r>
              <a:rPr lang="en-US" sz="1300" dirty="0">
                <a:solidFill>
                  <a:srgbClr val="69767A"/>
                </a:solidFill>
                <a:latin typeface="Menlo"/>
              </a:rPr>
              <a:t>= slot</a:t>
            </a:r>
          </a:p>
          <a:p>
            <a:r>
              <a:rPr lang="en-US" sz="1300" dirty="0">
                <a:solidFill>
                  <a:srgbClr val="69767A"/>
                </a:solidFill>
                <a:latin typeface="Menlo"/>
              </a:rPr>
              <a:t>#    (no </a:t>
            </a:r>
            <a:r>
              <a:rPr lang="en-US" sz="1300" dirty="0" err="1">
                <a:solidFill>
                  <a:srgbClr val="69767A"/>
                </a:solidFill>
                <a:latin typeface="Menlo"/>
              </a:rPr>
              <a:t>sbd.init</a:t>
            </a:r>
            <a:r>
              <a:rPr lang="en-US" sz="1300" dirty="0">
                <a:solidFill>
                  <a:srgbClr val="69767A"/>
                </a:solidFill>
                <a:latin typeface="Menlo"/>
              </a:rPr>
              <a:t>() / </a:t>
            </a:r>
            <a:r>
              <a:rPr lang="en-US" sz="1300" dirty="0" err="1">
                <a:solidFill>
                  <a:srgbClr val="69767A"/>
                </a:solidFill>
                <a:latin typeface="Menlo"/>
              </a:rPr>
              <a:t>mpi_comm</a:t>
            </a:r>
            <a:r>
              <a:rPr lang="en-US" sz="1300" dirty="0">
                <a:solidFill>
                  <a:srgbClr val="69767A"/>
                </a:solidFill>
                <a:latin typeface="Menlo"/>
              </a:rPr>
              <a:t> needed: </a:t>
            </a:r>
            <a:r>
              <a:rPr lang="en-US" sz="1300" dirty="0" err="1">
                <a:solidFill>
                  <a:srgbClr val="69767A"/>
                </a:solidFill>
                <a:latin typeface="Menlo"/>
              </a:rPr>
              <a:t>solve_sci_batch</a:t>
            </a:r>
            <a:r>
              <a:rPr lang="en-US" sz="1300" dirty="0">
                <a:solidFill>
                  <a:srgbClr val="69767A"/>
                </a:solidFill>
                <a:latin typeface="Menlo"/>
              </a:rPr>
              <a:t> auto-</a:t>
            </a:r>
            <a:r>
              <a:rPr lang="en-US" sz="1300" dirty="0" err="1">
                <a:solidFill>
                  <a:srgbClr val="69767A"/>
                </a:solidFill>
                <a:latin typeface="Menlo"/>
              </a:rPr>
              <a:t>inits</a:t>
            </a:r>
            <a:endParaRPr lang="en-US" sz="1300" dirty="0">
              <a:solidFill>
                <a:srgbClr val="69767A"/>
              </a:solidFill>
              <a:latin typeface="Menlo"/>
            </a:endParaRPr>
          </a:p>
          <a:p>
            <a:r>
              <a:rPr lang="en-US" sz="1300" dirty="0">
                <a:solidFill>
                  <a:srgbClr val="69767A"/>
                </a:solidFill>
                <a:latin typeface="Menlo"/>
              </a:rPr>
              <a:t>#     and falls back to MPI.COMM_WORLD when </a:t>
            </a:r>
            <a:r>
              <a:rPr lang="en-US" sz="1300" dirty="0" err="1">
                <a:solidFill>
                  <a:srgbClr val="69767A"/>
                </a:solidFill>
                <a:latin typeface="Menlo"/>
              </a:rPr>
              <a:t>mpi_comm</a:t>
            </a:r>
            <a:r>
              <a:rPr lang="en-US" sz="1300" dirty="0">
                <a:solidFill>
                  <a:srgbClr val="69767A"/>
                </a:solidFill>
                <a:latin typeface="Menlo"/>
              </a:rPr>
              <a:t> is omitted)</a:t>
            </a:r>
          </a:p>
          <a:p>
            <a:r>
              <a:rPr lang="en-US" sz="1300" dirty="0" err="1">
                <a:solidFill>
                  <a:srgbClr val="161616"/>
                </a:solidFill>
                <a:latin typeface="Menlo"/>
              </a:rPr>
              <a:t>sbd_solver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 = partial(</a:t>
            </a:r>
          </a:p>
          <a:p>
            <a:r>
              <a:rPr lang="en-US" sz="1300" b="1" dirty="0">
                <a:solidFill>
                  <a:srgbClr val="DA1E28"/>
                </a:solidFill>
                <a:latin typeface="Menlo"/>
              </a:rPr>
              <a:t>    </a:t>
            </a:r>
            <a:r>
              <a:rPr lang="en-US" sz="1300" b="1" dirty="0" err="1">
                <a:solidFill>
                  <a:srgbClr val="DA1E28"/>
                </a:solidFill>
                <a:latin typeface="Menlo"/>
              </a:rPr>
              <a:t>solve_sci_batch</a:t>
            </a:r>
            <a:r>
              <a:rPr lang="en-US" sz="1300" b="1" dirty="0">
                <a:solidFill>
                  <a:srgbClr val="DA1E28"/>
                </a:solidFill>
                <a:latin typeface="Menlo"/>
              </a:rPr>
              <a:t>,</a:t>
            </a:r>
          </a:p>
          <a:p>
            <a:r>
              <a:rPr lang="en-US" sz="1300" dirty="0">
                <a:solidFill>
                  <a:srgbClr val="161616"/>
                </a:solidFill>
                <a:latin typeface="Menlo"/>
              </a:rPr>
              <a:t>   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sbd_config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 = {'method': 0, '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max_it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': 10, '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max_nb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’: 10, ...},</a:t>
            </a:r>
          </a:p>
          <a:p>
            <a:r>
              <a:rPr lang="en-US" sz="1300" dirty="0">
                <a:solidFill>
                  <a:srgbClr val="161616"/>
                </a:solidFill>
                <a:latin typeface="Menlo"/>
              </a:rPr>
              <a:t>   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device_config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 =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DeviceConfig.gpu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(),       # or .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cpu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() / .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gpu_omp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()</a:t>
            </a:r>
          </a:p>
          <a:p>
            <a:r>
              <a:rPr lang="en-US" sz="1300" dirty="0">
                <a:solidFill>
                  <a:srgbClr val="161616"/>
                </a:solidFill>
                <a:latin typeface="Menlo"/>
              </a:rPr>
              <a:t>   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fcidump_path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 = 'data/h2o/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fcidump.txt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',</a:t>
            </a:r>
          </a:p>
          <a:p>
            <a:r>
              <a:rPr lang="en-US" sz="1300" dirty="0">
                <a:solidFill>
                  <a:srgbClr val="161616"/>
                </a:solidFill>
                <a:latin typeface="Menlo"/>
              </a:rPr>
              <a:t>)</a:t>
            </a:r>
          </a:p>
          <a:p>
            <a:r>
              <a:rPr lang="en-US" sz="1300" dirty="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lang="en-US" sz="1300" dirty="0">
                <a:solidFill>
                  <a:srgbClr val="69767A"/>
                </a:solidFill>
                <a:latin typeface="Menlo"/>
              </a:rPr>
              <a:t># 4. Run the SQD self-consistent loop</a:t>
            </a:r>
          </a:p>
          <a:p>
            <a:r>
              <a:rPr lang="en-US" sz="1300" dirty="0">
                <a:solidFill>
                  <a:srgbClr val="161616"/>
                </a:solidFill>
                <a:latin typeface="Menlo"/>
              </a:rPr>
              <a:t>result =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diagonalize_fermionic_hamiltonian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(</a:t>
            </a:r>
          </a:p>
          <a:p>
            <a:r>
              <a:rPr lang="en-US" sz="1300" dirty="0">
                <a:solidFill>
                  <a:srgbClr val="161616"/>
                </a:solidFill>
                <a:latin typeface="Menlo"/>
              </a:rPr>
              <a:t>   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hcore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,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eri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,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bit_array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,</a:t>
            </a:r>
          </a:p>
          <a:p>
            <a:r>
              <a:rPr lang="en-US" sz="1300" dirty="0">
                <a:solidFill>
                  <a:srgbClr val="161616"/>
                </a:solidFill>
                <a:latin typeface="Menlo"/>
              </a:rPr>
              <a:t>   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norb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=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norb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,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nelec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=(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num_elec_a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,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num_elec_b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),</a:t>
            </a:r>
          </a:p>
          <a:p>
            <a:r>
              <a:rPr lang="en-US" sz="1300" dirty="0">
                <a:solidFill>
                  <a:srgbClr val="161616"/>
                </a:solidFill>
                <a:latin typeface="Menlo"/>
              </a:rPr>
              <a:t>   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samples_per_batch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=3000,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num_batches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=3, </a:t>
            </a:r>
            <a:r>
              <a:rPr lang="en-US" sz="1300" dirty="0" err="1">
                <a:solidFill>
                  <a:srgbClr val="161616"/>
                </a:solidFill>
                <a:latin typeface="Menlo"/>
              </a:rPr>
              <a:t>max_iterations</a:t>
            </a:r>
            <a:r>
              <a:rPr lang="en-US" sz="1300" dirty="0">
                <a:solidFill>
                  <a:srgbClr val="161616"/>
                </a:solidFill>
                <a:latin typeface="Menlo"/>
              </a:rPr>
              <a:t>=5,</a:t>
            </a:r>
          </a:p>
          <a:p>
            <a:r>
              <a:rPr lang="en-US" sz="1300" b="1" dirty="0">
                <a:solidFill>
                  <a:srgbClr val="DA1E28"/>
                </a:solidFill>
                <a:latin typeface="Menlo"/>
              </a:rPr>
              <a:t>    </a:t>
            </a:r>
            <a:r>
              <a:rPr lang="en-US" sz="1300" b="1" dirty="0" err="1">
                <a:solidFill>
                  <a:srgbClr val="DA1E28"/>
                </a:solidFill>
                <a:latin typeface="Menlo"/>
              </a:rPr>
              <a:t>sci_solver</a:t>
            </a:r>
            <a:r>
              <a:rPr lang="en-US" sz="1300" b="1" dirty="0">
                <a:solidFill>
                  <a:srgbClr val="DA1E28"/>
                </a:solidFill>
                <a:latin typeface="Menlo"/>
              </a:rPr>
              <a:t>=</a:t>
            </a:r>
            <a:r>
              <a:rPr lang="en-US" sz="1300" b="1" dirty="0" err="1">
                <a:solidFill>
                  <a:srgbClr val="DA1E28"/>
                </a:solidFill>
                <a:latin typeface="Menlo"/>
              </a:rPr>
              <a:t>sbd_solver</a:t>
            </a:r>
            <a:r>
              <a:rPr lang="en-US" sz="1300" b="1" dirty="0">
                <a:solidFill>
                  <a:srgbClr val="DA1E28"/>
                </a:solidFill>
                <a:latin typeface="Menlo"/>
              </a:rPr>
              <a:t>,    # ← SBD plugs in here</a:t>
            </a:r>
          </a:p>
          <a:p>
            <a:r>
              <a:rPr sz="1300" dirty="0">
                <a:solidFill>
                  <a:srgbClr val="161616"/>
                </a:solidFill>
                <a:latin typeface="Menlo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93D0BE-58C3-EC4F-8454-8D7A7DF52FA1}"/>
              </a:ext>
            </a:extLst>
          </p:cNvPr>
          <p:cNvSpPr txBox="1"/>
          <p:nvPr/>
        </p:nvSpPr>
        <p:spPr>
          <a:xfrm>
            <a:off x="437680" y="1193000"/>
            <a:ext cx="11247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0F62FE"/>
                </a:solidFill>
                <a:latin typeface="Calibri"/>
              </a:rPr>
              <a:t>▶  Quick </a:t>
            </a:r>
            <a:r>
              <a:rPr sz="1300" b="1">
                <a:solidFill>
                  <a:srgbClr val="0F62FE"/>
                </a:solidFill>
                <a:latin typeface="Calibri"/>
              </a:rPr>
              <a:t>start :  </a:t>
            </a:r>
            <a:r>
              <a:rPr sz="1300" b="1" dirty="0">
                <a:solidFill>
                  <a:srgbClr val="0F62FE"/>
                </a:solidFill>
                <a:latin typeface="Calibri"/>
              </a:rPr>
              <a:t>python/examples/</a:t>
            </a:r>
            <a:r>
              <a:rPr sz="1300" b="1" dirty="0" err="1">
                <a:solidFill>
                  <a:srgbClr val="0F62FE"/>
                </a:solidFill>
                <a:latin typeface="Calibri"/>
              </a:rPr>
              <a:t>run_sqd_sbd.ipynb</a:t>
            </a:r>
            <a:endParaRPr sz="1300" b="1" dirty="0">
              <a:solidFill>
                <a:srgbClr val="0F62F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161616"/>
                </a:solidFill>
                <a:latin typeface="Calibri"/>
              </a:rPr>
              <a:t>Three </a:t>
            </a:r>
            <a:r>
              <a:rPr lang="en-US" sz="3200" b="1" dirty="0">
                <a:solidFill>
                  <a:srgbClr val="161616"/>
                </a:solidFill>
                <a:latin typeface="Calibri"/>
              </a:rPr>
              <a:t>SBD </a:t>
            </a:r>
            <a:r>
              <a:rPr sz="3200" b="1" dirty="0">
                <a:solidFill>
                  <a:srgbClr val="161616"/>
                </a:solidFill>
                <a:latin typeface="Calibri"/>
              </a:rPr>
              <a:t>backends, one runtime decision</a:t>
            </a:r>
          </a:p>
          <a:p>
            <a:r>
              <a:rPr sz="1600" dirty="0">
                <a:solidFill>
                  <a:srgbClr val="0F62FE"/>
                </a:solidFill>
                <a:latin typeface="Calibri"/>
              </a:rPr>
              <a:t>Same source, same energies (bit-equal), different compilers — NVIDIA GPU only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179909"/>
              </p:ext>
            </p:extLst>
          </p:nvPr>
        </p:nvGraphicFramePr>
        <p:xfrm>
          <a:off x="457200" y="146304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device=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Compiler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When to use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'cpu'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system </a:t>
                      </a:r>
                      <a:r>
                        <a:rPr sz="1400" dirty="0" err="1">
                          <a:solidFill>
                            <a:srgbClr val="161616"/>
                          </a:solidFill>
                          <a:latin typeface="Calibri"/>
                        </a:rPr>
                        <a:t>c++</a:t>
                      </a:r>
                      <a:endParaRPr sz="1400" dirty="0">
                        <a:solidFill>
                          <a:srgbClr val="161616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small problems · debugging · no GPU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'gpu' (Thrust)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NVHPC </a:t>
                      </a:r>
                      <a:r>
                        <a:rPr sz="1400" dirty="0" err="1">
                          <a:solidFill>
                            <a:srgbClr val="161616"/>
                          </a:solidFill>
                          <a:latin typeface="Calibri"/>
                        </a:rPr>
                        <a:t>nvc</a:t>
                      </a:r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NVIDIA GPU · production default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'</a:t>
                      </a:r>
                      <a:r>
                        <a:rPr sz="1400" dirty="0" err="1">
                          <a:solidFill>
                            <a:srgbClr val="161616"/>
                          </a:solidFill>
                          <a:latin typeface="Calibri"/>
                        </a:rPr>
                        <a:t>gpu-omp</a:t>
                      </a:r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’ (</a:t>
                      </a:r>
                      <a:r>
                        <a:rPr lang="en-US" sz="1400" dirty="0">
                          <a:solidFill>
                            <a:srgbClr val="161616"/>
                          </a:solidFill>
                          <a:latin typeface="Calibri"/>
                        </a:rPr>
                        <a:t>OpenMP 5</a:t>
                      </a:r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clang++</a:t>
                      </a:r>
                      <a:r>
                        <a:rPr lang="en-US" sz="1400" dirty="0">
                          <a:solidFill>
                            <a:srgbClr val="161616"/>
                          </a:solidFill>
                          <a:latin typeface="Calibri"/>
                        </a:rPr>
                        <a:t>/</a:t>
                      </a:r>
                      <a:r>
                        <a:rPr lang="en-US" sz="1400" dirty="0" err="1">
                          <a:solidFill>
                            <a:srgbClr val="161616"/>
                          </a:solidFill>
                          <a:latin typeface="Calibri"/>
                        </a:rPr>
                        <a:t>nvc</a:t>
                      </a:r>
                      <a:r>
                        <a:rPr lang="en-US" sz="1400" dirty="0">
                          <a:solidFill>
                            <a:srgbClr val="161616"/>
                          </a:solidFill>
                          <a:latin typeface="Calibri"/>
                        </a:rPr>
                        <a:t>++</a:t>
                      </a:r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 w/ NVPTX target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NVIDIA GPU · alternative kernel path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2FE"/>
                </a:solidFill>
                <a:latin typeface="Calibri"/>
              </a:rPr>
              <a:t>Fe4S4 27,901 α-determinants on coreweave GB200 (post-rebuild, native sm_100):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259896"/>
              </p:ext>
            </p:extLst>
          </p:nvPr>
        </p:nvGraphicFramePr>
        <p:xfrm>
          <a:off x="447964" y="3703320"/>
          <a:ext cx="112471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4×GB200 (1 node)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8×GB200 (2 nodes)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1n→2n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Thrust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577 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329 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1.75×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OMP-offload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491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304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1.62×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40680"/>
            <a:ext cx="11247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69767A"/>
                </a:solidFill>
                <a:latin typeface="Calibri"/>
              </a:rPr>
              <a:t>All energies = −326.821832430028 (bit-equal across </a:t>
            </a:r>
            <a:r>
              <a:rPr sz="1400" dirty="0" err="1">
                <a:solidFill>
                  <a:srgbClr val="69767A"/>
                </a:solidFill>
                <a:latin typeface="Calibri"/>
              </a:rPr>
              <a:t>cpu</a:t>
            </a:r>
            <a:r>
              <a:rPr sz="1400" dirty="0">
                <a:solidFill>
                  <a:srgbClr val="69767A"/>
                </a:solidFill>
                <a:latin typeface="Calibri"/>
              </a:rPr>
              <a:t> / </a:t>
            </a:r>
            <a:r>
              <a:rPr sz="1400" dirty="0" err="1">
                <a:solidFill>
                  <a:srgbClr val="69767A"/>
                </a:solidFill>
                <a:latin typeface="Calibri"/>
              </a:rPr>
              <a:t>gpu</a:t>
            </a:r>
            <a:r>
              <a:rPr sz="1400" dirty="0">
                <a:solidFill>
                  <a:srgbClr val="69767A"/>
                </a:solidFill>
                <a:latin typeface="Calibri"/>
              </a:rPr>
              <a:t> / </a:t>
            </a:r>
            <a:r>
              <a:rPr sz="1400" dirty="0" err="1">
                <a:solidFill>
                  <a:srgbClr val="69767A"/>
                </a:solidFill>
                <a:latin typeface="Calibri"/>
              </a:rPr>
              <a:t>gpu-omp</a:t>
            </a:r>
            <a:r>
              <a:rPr sz="1400" dirty="0">
                <a:solidFill>
                  <a:srgbClr val="69767A"/>
                </a:solidFill>
                <a:latin typeface="Calibri"/>
              </a:rPr>
              <a:t> and 1n / 2n).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61616"/>
                </a:solidFill>
              </a:rPr>
              <a:t>SBD as a GPU-accelerated SCI driver</a:t>
            </a:r>
          </a:p>
          <a:p>
            <a:r>
              <a:rPr lang="en-US" sz="1600" dirty="0">
                <a:solidFill>
                  <a:srgbClr val="0F62FE"/>
                </a:solidFill>
                <a:latin typeface="Calibri"/>
              </a:rPr>
              <a:t>single-doubles-extend branch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Branch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SBD C++ source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it has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main (stable)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submodule → upstream r-ccs-</a:t>
                      </a:r>
                      <a:r>
                        <a:rPr sz="1400" dirty="0" err="1">
                          <a:solidFill>
                            <a:srgbClr val="161616"/>
                          </a:solidFill>
                          <a:latin typeface="Calibri"/>
                        </a:rPr>
                        <a:t>cms</a:t>
                      </a:r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/</a:t>
                      </a:r>
                      <a:r>
                        <a:rPr sz="1400" dirty="0" err="1">
                          <a:solidFill>
                            <a:srgbClr val="161616"/>
                          </a:solidFill>
                          <a:latin typeface="Calibri"/>
                        </a:rPr>
                        <a:t>sbd</a:t>
                      </a:r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 (unmodified)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Python wrapper, three backends, SQD integration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singles-doubles-extend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embedded in fork (C++ modified for new features)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+ variance, S+D, ERI screening, </a:t>
                      </a:r>
                      <a:r>
                        <a:rPr sz="1400" dirty="0" err="1">
                          <a:solidFill>
                            <a:srgbClr val="161616"/>
                          </a:solidFill>
                          <a:latin typeface="Calibri"/>
                        </a:rPr>
                        <a:t>TrimSQD</a:t>
                      </a:r>
                      <a:endParaRPr sz="1400" dirty="0">
                        <a:solidFill>
                          <a:srgbClr val="161616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743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F62FE"/>
                </a:solidFill>
                <a:latin typeface="Calibri"/>
              </a:rPr>
              <a:t>Experimental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161616"/>
                </a:solidFill>
              </a:rPr>
              <a:t>1.  Singles + Doubles subspace expansion  (--</a:t>
            </a:r>
            <a:r>
              <a:rPr lang="en-US" sz="1200" dirty="0" err="1">
                <a:solidFill>
                  <a:srgbClr val="161616"/>
                </a:solidFill>
              </a:rPr>
              <a:t>carryover_type</a:t>
            </a:r>
            <a:r>
              <a:rPr lang="en-US" sz="1200" dirty="0">
                <a:solidFill>
                  <a:srgbClr val="161616"/>
                </a:solidFill>
              </a:rPr>
              <a:t> 4–6)</a:t>
            </a:r>
          </a:p>
          <a:p>
            <a:r>
              <a:rPr lang="en-US" sz="1200" dirty="0">
                <a:solidFill>
                  <a:srgbClr val="161616"/>
                </a:solidFill>
              </a:rPr>
              <a:t>      Brute-force: extend selected dets with single + same-spin double excitations.</a:t>
            </a:r>
          </a:p>
          <a:p>
            <a:r>
              <a:rPr lang="en-US" sz="1200" dirty="0">
                <a:solidFill>
                  <a:srgbClr val="161616"/>
                </a:solidFill>
              </a:rPr>
              <a:t>      ≡ Hamming distance ≤ 2 from each seed determinant.</a:t>
            </a:r>
          </a:p>
          <a:p>
            <a:r>
              <a:rPr lang="en-US" sz="1200" dirty="0">
                <a:solidFill>
                  <a:srgbClr val="161616"/>
                </a:solidFill>
              </a:rPr>
              <a:t> </a:t>
            </a:r>
          </a:p>
          <a:p>
            <a:r>
              <a:rPr lang="en-US" sz="1200" dirty="0">
                <a:solidFill>
                  <a:srgbClr val="161616"/>
                </a:solidFill>
              </a:rPr>
              <a:t>2.  ERI-screened S+D  (--</a:t>
            </a:r>
            <a:r>
              <a:rPr lang="en-US" sz="1200" dirty="0" err="1">
                <a:solidFill>
                  <a:srgbClr val="161616"/>
                </a:solidFill>
              </a:rPr>
              <a:t>carryover_type</a:t>
            </a:r>
            <a:r>
              <a:rPr lang="en-US" sz="1200" dirty="0">
                <a:solidFill>
                  <a:srgbClr val="161616"/>
                </a:solidFill>
              </a:rPr>
              <a:t> 7–8, --</a:t>
            </a:r>
            <a:r>
              <a:rPr lang="en-US" sz="1200" dirty="0" err="1">
                <a:solidFill>
                  <a:srgbClr val="161616"/>
                </a:solidFill>
              </a:rPr>
              <a:t>eri_threshold</a:t>
            </a:r>
            <a:r>
              <a:rPr lang="en-US" sz="1200" dirty="0">
                <a:solidFill>
                  <a:srgbClr val="161616"/>
                </a:solidFill>
              </a:rPr>
              <a:t>)  — HCI-flavor selection</a:t>
            </a:r>
          </a:p>
          <a:p>
            <a:r>
              <a:rPr lang="en-US" sz="1200" dirty="0">
                <a:solidFill>
                  <a:srgbClr val="161616"/>
                </a:solidFill>
              </a:rPr>
              <a:t>      Keep only excitations whose Hamiltonian coupling exceeds threshold.</a:t>
            </a:r>
          </a:p>
          <a:p>
            <a:r>
              <a:rPr lang="en-US" sz="1200" dirty="0">
                <a:solidFill>
                  <a:srgbClr val="161616"/>
                </a:solidFill>
              </a:rPr>
              <a:t>      Typically 20–50% of brute-force S+D, retaining the physically important excitations.</a:t>
            </a:r>
          </a:p>
          <a:p>
            <a:r>
              <a:rPr lang="en-US" sz="1200" dirty="0">
                <a:solidFill>
                  <a:srgbClr val="161616"/>
                </a:solidFill>
              </a:rPr>
              <a:t> </a:t>
            </a:r>
          </a:p>
          <a:p>
            <a:r>
              <a:rPr lang="en-US" sz="1200" dirty="0">
                <a:solidFill>
                  <a:srgbClr val="161616"/>
                </a:solidFill>
              </a:rPr>
              <a:t>3.  Variance-only mode  (--iteration 0)  +  </a:t>
            </a:r>
            <a:r>
              <a:rPr lang="en-US" sz="1200" dirty="0" err="1">
                <a:solidFill>
                  <a:srgbClr val="161616"/>
                </a:solidFill>
              </a:rPr>
              <a:t>TrimSQD</a:t>
            </a:r>
            <a:r>
              <a:rPr lang="en-US" sz="1200" dirty="0">
                <a:solidFill>
                  <a:srgbClr val="161616"/>
                </a:solidFill>
              </a:rPr>
              <a:t> (adaptive pruning)</a:t>
            </a:r>
          </a:p>
          <a:p>
            <a:r>
              <a:rPr lang="en-US" sz="1200" dirty="0">
                <a:solidFill>
                  <a:srgbClr val="161616"/>
                </a:solidFill>
              </a:rPr>
              <a:t>      </a:t>
            </a:r>
            <a:r>
              <a:rPr lang="el-GR" sz="1200" dirty="0">
                <a:solidFill>
                  <a:srgbClr val="161616"/>
                </a:solidFill>
              </a:rPr>
              <a:t>σ² = ⟨</a:t>
            </a:r>
            <a:r>
              <a:rPr lang="en-US" sz="1200" dirty="0">
                <a:solidFill>
                  <a:srgbClr val="161616"/>
                </a:solidFill>
              </a:rPr>
              <a:t>H</a:t>
            </a:r>
            <a:r>
              <a:rPr lang="el-GR" sz="1200" dirty="0">
                <a:solidFill>
                  <a:srgbClr val="161616"/>
                </a:solidFill>
              </a:rPr>
              <a:t>ψ|</a:t>
            </a:r>
            <a:r>
              <a:rPr lang="en-US" sz="1200" dirty="0">
                <a:solidFill>
                  <a:srgbClr val="161616"/>
                </a:solidFill>
              </a:rPr>
              <a:t>H</a:t>
            </a:r>
            <a:r>
              <a:rPr lang="el-GR" sz="1200" dirty="0">
                <a:solidFill>
                  <a:srgbClr val="161616"/>
                </a:solidFill>
              </a:rPr>
              <a:t>ψ⟩/‖ψ‖² − </a:t>
            </a:r>
            <a:r>
              <a:rPr lang="en-US" sz="1200" dirty="0">
                <a:solidFill>
                  <a:srgbClr val="161616"/>
                </a:solidFill>
              </a:rPr>
              <a:t>E² without diagonalizing.  Two-step expand → diagonalize → variance → repeat → </a:t>
            </a:r>
            <a:r>
              <a:rPr lang="el-GR" sz="1200" dirty="0">
                <a:solidFill>
                  <a:srgbClr val="161616"/>
                </a:solidFill>
              </a:rPr>
              <a:t>σ² → 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1298" y="5065886"/>
            <a:ext cx="11247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0F62FE"/>
                </a:solidFill>
                <a:latin typeface="Calibri"/>
              </a:rPr>
              <a:t>Demo: 29-orbital, </a:t>
            </a:r>
            <a:r>
              <a:rPr lang="en-US" sz="1300" b="1" dirty="0" err="1">
                <a:solidFill>
                  <a:srgbClr val="0F62FE"/>
                </a:solidFill>
              </a:rPr>
              <a:t>nelec</a:t>
            </a:r>
            <a:r>
              <a:rPr lang="en-US" sz="1300" b="1" dirty="0">
                <a:solidFill>
                  <a:srgbClr val="0F62FE"/>
                </a:solidFill>
              </a:rPr>
              <a:t>=(5</a:t>
            </a:r>
            <a:r>
              <a:rPr lang="el-GR" sz="1300" b="1" dirty="0">
                <a:solidFill>
                  <a:srgbClr val="0F62FE"/>
                </a:solidFill>
              </a:rPr>
              <a:t>α,5β)</a:t>
            </a:r>
            <a:r>
              <a:rPr sz="1300" b="1" dirty="0">
                <a:solidFill>
                  <a:srgbClr val="0F62FE"/>
                </a:solidFill>
                <a:latin typeface="Calibri"/>
              </a:rPr>
              <a:t>, seeded from 995 sampled dets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502616"/>
              </p:ext>
            </p:extLst>
          </p:nvPr>
        </p:nvGraphicFramePr>
        <p:xfrm>
          <a:off x="457200" y="5307694"/>
          <a:ext cx="11247120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dets (no trim)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dets (TrimSQD)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Energy (Ha)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Variance (Ha²)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995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995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−101.9406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1.649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11,042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5,794  (−47%)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−103.5938 (0.16 mHa from FCI)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≤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61616"/>
                </a:solidFill>
                <a:latin typeface="Calibri"/>
              </a:rPr>
              <a:t>The HPC pain — toolchain × MPI × fabric per cluster</a:t>
            </a:r>
          </a:p>
          <a:p>
            <a:r>
              <a:rPr sz="1600">
                <a:solidFill>
                  <a:srgbClr val="0F62FE"/>
                </a:solidFill>
                <a:latin typeface="Calibri"/>
              </a:rPr>
              <a:t>Why standing this up on a new cluster is harder than pip install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2FE"/>
                </a:solidFill>
                <a:latin typeface="Calibri"/>
              </a:rPr>
              <a:t>Three backends, three compilers — distutils takes one CXX per setup() call → two pip invocations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768555"/>
              </p:ext>
            </p:extLst>
          </p:nvPr>
        </p:nvGraphicFramePr>
        <p:xfrm>
          <a:off x="457200" y="1874519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Compiler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>
                    <a:solidFill>
                      <a:srgbClr val="0F6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_core_cpu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system c++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debugging, small problems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_core_gpu (Thrust)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NVHPC nvc++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1616"/>
                          </a:solidFill>
                          <a:latin typeface="Calibri"/>
                        </a:rPr>
                        <a:t>production GPU on NVIDIA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_</a:t>
                      </a:r>
                      <a:r>
                        <a:rPr sz="1400" dirty="0" err="1">
                          <a:solidFill>
                            <a:srgbClr val="161616"/>
                          </a:solidFill>
                          <a:latin typeface="Calibri"/>
                        </a:rPr>
                        <a:t>core_gpu_omp_nvidia</a:t>
                      </a:r>
                      <a:r>
                        <a:rPr lang="en-US" sz="1400" dirty="0">
                          <a:solidFill>
                            <a:srgbClr val="161616"/>
                          </a:solidFill>
                          <a:latin typeface="Calibri"/>
                        </a:rPr>
                        <a:t> (OpenMP 5)</a:t>
                      </a:r>
                      <a:endParaRPr sz="1400" dirty="0">
                        <a:solidFill>
                          <a:srgbClr val="161616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clang++</a:t>
                      </a:r>
                      <a:r>
                        <a:rPr lang="en-US" sz="1400" dirty="0">
                          <a:solidFill>
                            <a:srgbClr val="161616"/>
                          </a:solidFill>
                          <a:latin typeface="Calibri"/>
                        </a:rPr>
                        <a:t>/</a:t>
                      </a:r>
                      <a:r>
                        <a:rPr lang="en-US" sz="1400" dirty="0" err="1">
                          <a:solidFill>
                            <a:srgbClr val="161616"/>
                          </a:solidFill>
                          <a:latin typeface="Calibri"/>
                        </a:rPr>
                        <a:t>nvc</a:t>
                      </a:r>
                      <a:r>
                        <a:rPr lang="en-US" sz="1400" dirty="0">
                          <a:solidFill>
                            <a:srgbClr val="161616"/>
                          </a:solidFill>
                          <a:latin typeface="Calibri"/>
                        </a:rPr>
                        <a:t>++</a:t>
                      </a:r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 </a:t>
                      </a:r>
                      <a:r>
                        <a:rPr lang="en-US" sz="1400" dirty="0">
                          <a:solidFill>
                            <a:srgbClr val="161616"/>
                          </a:solidFill>
                          <a:latin typeface="Calibri"/>
                        </a:rPr>
                        <a:t>w/</a:t>
                      </a:r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 NVPTX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61616"/>
                          </a:solidFill>
                          <a:latin typeface="Calibri"/>
                        </a:rPr>
                        <a:t>alternative GPU path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383280"/>
            <a:ext cx="112471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rgbClr val="161616"/>
                </a:solidFill>
                <a:latin typeface="Calibri"/>
              </a:rPr>
              <a:t>Issues users may want to be aware</a:t>
            </a:r>
            <a:r>
              <a:rPr sz="1500" b="1" dirty="0">
                <a:solidFill>
                  <a:srgbClr val="161616"/>
                </a:solidFill>
                <a:latin typeface="Calibri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1124712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161616"/>
                </a:solidFill>
                <a:latin typeface="Calibri"/>
              </a:rPr>
              <a:t>•  GPU compute capability — sm_90 (default</a:t>
            </a:r>
            <a:r>
              <a:rPr lang="en-US" sz="1300" dirty="0">
                <a:solidFill>
                  <a:srgbClr val="161616"/>
                </a:solidFill>
                <a:latin typeface="Calibri"/>
              </a:rPr>
              <a:t>/H100</a:t>
            </a:r>
            <a:r>
              <a:rPr sz="1300" dirty="0">
                <a:solidFill>
                  <a:srgbClr val="161616"/>
                </a:solidFill>
                <a:latin typeface="Calibri"/>
              </a:rPr>
              <a:t>) vs sm_100 (Blackwell). </a:t>
            </a:r>
            <a:endParaRPr lang="en-US" sz="1300" dirty="0">
              <a:solidFill>
                <a:srgbClr val="161616"/>
              </a:solidFill>
              <a:latin typeface="Calibri"/>
            </a:endParaRPr>
          </a:p>
          <a:p>
            <a:r>
              <a:rPr sz="1300" dirty="0">
                <a:solidFill>
                  <a:srgbClr val="161616"/>
                </a:solidFill>
                <a:latin typeface="Calibri"/>
              </a:rPr>
              <a:t>•  MPI vendor — </a:t>
            </a:r>
            <a:r>
              <a:rPr lang="en-US" sz="1300" dirty="0">
                <a:solidFill>
                  <a:srgbClr val="161616"/>
                </a:solidFill>
                <a:latin typeface="Calibri"/>
              </a:rPr>
              <a:t>GPU-aware is required</a:t>
            </a:r>
            <a:endParaRPr sz="1300" dirty="0">
              <a:solidFill>
                <a:srgbClr val="161616"/>
              </a:solidFill>
              <a:latin typeface="Calibri"/>
            </a:endParaRPr>
          </a:p>
          <a:p>
            <a:r>
              <a:rPr sz="1300" dirty="0">
                <a:solidFill>
                  <a:srgbClr val="161616"/>
                </a:solidFill>
                <a:latin typeface="Calibri"/>
              </a:rPr>
              <a:t>•  LD_LIBRARY_PATH </a:t>
            </a:r>
            <a:r>
              <a:rPr lang="en-US" sz="1300" dirty="0">
                <a:solidFill>
                  <a:srgbClr val="161616"/>
                </a:solidFill>
                <a:latin typeface="Calibri"/>
              </a:rPr>
              <a:t>needs to be set properly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61616"/>
                </a:solidFill>
                <a:latin typeface="Calibri"/>
              </a:rPr>
              <a:t>I</a:t>
            </a:r>
            <a:r>
              <a:rPr sz="3200" b="1" dirty="0">
                <a:solidFill>
                  <a:srgbClr val="161616"/>
                </a:solidFill>
                <a:latin typeface="Calibri"/>
              </a:rPr>
              <a:t>nstall commands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39"/>
            <a:ext cx="11247120" cy="2639403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7200" y="1513039"/>
            <a:ext cx="11108151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69767A"/>
                </a:solidFill>
                <a:latin typeface="Menlo"/>
              </a:rPr>
              <a:t># 1. CPU + Thrust GPU (NVHPC </a:t>
            </a:r>
            <a:r>
              <a:rPr sz="1400" dirty="0" err="1">
                <a:solidFill>
                  <a:srgbClr val="69767A"/>
                </a:solidFill>
                <a:latin typeface="Menlo"/>
              </a:rPr>
              <a:t>nvc</a:t>
            </a:r>
            <a:r>
              <a:rPr sz="1400" dirty="0">
                <a:solidFill>
                  <a:srgbClr val="69767A"/>
                </a:solidFill>
                <a:latin typeface="Menlo"/>
              </a:rPr>
              <a:t>++ on PATH)</a:t>
            </a:r>
          </a:p>
          <a:p>
            <a:r>
              <a:rPr sz="1400" b="1" dirty="0">
                <a:solidFill>
                  <a:srgbClr val="DA1E28"/>
                </a:solidFill>
                <a:latin typeface="Menlo"/>
              </a:rPr>
              <a:t>SBD_BUILD_BACKEND=both CC=</a:t>
            </a:r>
            <a:r>
              <a:rPr sz="1400" b="1" dirty="0" err="1">
                <a:solidFill>
                  <a:srgbClr val="DA1E28"/>
                </a:solidFill>
                <a:latin typeface="Menlo"/>
              </a:rPr>
              <a:t>nvc</a:t>
            </a:r>
            <a:r>
              <a:rPr sz="1400" b="1" dirty="0">
                <a:solidFill>
                  <a:srgbClr val="DA1E28"/>
                </a:solidFill>
                <a:latin typeface="Menlo"/>
              </a:rPr>
              <a:t> CXX=</a:t>
            </a:r>
            <a:r>
              <a:rPr sz="1400" b="1" dirty="0" err="1">
                <a:solidFill>
                  <a:srgbClr val="DA1E28"/>
                </a:solidFill>
                <a:latin typeface="Menlo"/>
              </a:rPr>
              <a:t>nvc</a:t>
            </a:r>
            <a:r>
              <a:rPr sz="1400" b="1" dirty="0">
                <a:solidFill>
                  <a:srgbClr val="DA1E28"/>
                </a:solidFill>
                <a:latin typeface="Menlo"/>
              </a:rPr>
              <a:t>++ \</a:t>
            </a:r>
          </a:p>
          <a:p>
            <a:r>
              <a:rPr sz="1400" dirty="0">
                <a:solidFill>
                  <a:srgbClr val="161616"/>
                </a:solidFill>
                <a:latin typeface="Menlo"/>
              </a:rPr>
              <a:t>    pip install --no-build-isolation -e .</a:t>
            </a:r>
          </a:p>
          <a:p>
            <a:r>
              <a:rPr sz="1400" dirty="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sz="1400" dirty="0">
                <a:solidFill>
                  <a:srgbClr val="69767A"/>
                </a:solidFill>
                <a:latin typeface="Menlo"/>
              </a:rPr>
              <a:t># 2. OMP-offload GPU (LLVM clang++ with NVPTX target on PATH)</a:t>
            </a:r>
          </a:p>
          <a:p>
            <a:r>
              <a:rPr sz="1400" dirty="0">
                <a:solidFill>
                  <a:srgbClr val="69767A"/>
                </a:solidFill>
                <a:latin typeface="Menlo"/>
              </a:rPr>
              <a:t>#    Built separately — incompatible with NVHPC's CXX in one setup() call.</a:t>
            </a:r>
          </a:p>
          <a:p>
            <a:r>
              <a:rPr sz="1400" b="1" dirty="0">
                <a:solidFill>
                  <a:srgbClr val="DA1E28"/>
                </a:solidFill>
                <a:latin typeface="Menlo"/>
              </a:rPr>
              <a:t>SBD_BUILD_BACKEND=</a:t>
            </a:r>
            <a:r>
              <a:rPr sz="1400" b="1" dirty="0" err="1">
                <a:solidFill>
                  <a:srgbClr val="DA1E28"/>
                </a:solidFill>
                <a:latin typeface="Menlo"/>
              </a:rPr>
              <a:t>gpu_omp_nvidia</a:t>
            </a:r>
            <a:r>
              <a:rPr sz="1400" b="1" dirty="0">
                <a:solidFill>
                  <a:srgbClr val="DA1E28"/>
                </a:solidFill>
                <a:latin typeface="Menlo"/>
              </a:rPr>
              <a:t> \</a:t>
            </a:r>
          </a:p>
          <a:p>
            <a:r>
              <a:rPr sz="1400" dirty="0">
                <a:solidFill>
                  <a:srgbClr val="161616"/>
                </a:solidFill>
                <a:latin typeface="Menlo"/>
              </a:rPr>
              <a:t>    pip install --no-build-isolation -e .</a:t>
            </a:r>
          </a:p>
          <a:p>
            <a:r>
              <a:rPr sz="1400" dirty="0">
                <a:solidFill>
                  <a:srgbClr val="69767A"/>
                </a:solidFill>
                <a:latin typeface="Menlo"/>
              </a:rPr>
              <a:t> </a:t>
            </a:r>
          </a:p>
          <a:p>
            <a:r>
              <a:rPr sz="1400" dirty="0">
                <a:solidFill>
                  <a:srgbClr val="69767A"/>
                </a:solidFill>
                <a:latin typeface="Menlo"/>
              </a:rPr>
              <a:t># 3. </a:t>
            </a:r>
            <a:r>
              <a:rPr sz="1400" dirty="0" err="1">
                <a:solidFill>
                  <a:srgbClr val="69767A"/>
                </a:solidFill>
                <a:latin typeface="Menlo"/>
              </a:rPr>
              <a:t>qiskit</a:t>
            </a:r>
            <a:r>
              <a:rPr sz="1400" dirty="0">
                <a:solidFill>
                  <a:srgbClr val="69767A"/>
                </a:solidFill>
                <a:latin typeface="Menlo"/>
              </a:rPr>
              <a:t>-addon-</a:t>
            </a:r>
            <a:r>
              <a:rPr sz="1400" dirty="0" err="1">
                <a:solidFill>
                  <a:srgbClr val="69767A"/>
                </a:solidFill>
                <a:latin typeface="Menlo"/>
              </a:rPr>
              <a:t>sqd</a:t>
            </a:r>
            <a:r>
              <a:rPr sz="1400" dirty="0">
                <a:solidFill>
                  <a:srgbClr val="69767A"/>
                </a:solidFill>
                <a:latin typeface="Menlo"/>
              </a:rPr>
              <a:t> MPI-aware fork</a:t>
            </a:r>
          </a:p>
          <a:p>
            <a:r>
              <a:rPr sz="1400" b="1" dirty="0">
                <a:solidFill>
                  <a:srgbClr val="DA1E28"/>
                </a:solidFill>
                <a:latin typeface="Menlo"/>
              </a:rPr>
              <a:t>pip install </a:t>
            </a:r>
            <a:r>
              <a:rPr sz="1400" b="1" dirty="0" err="1">
                <a:solidFill>
                  <a:srgbClr val="DA1E28"/>
                </a:solidFill>
                <a:latin typeface="Menlo"/>
              </a:rPr>
              <a:t>git+https</a:t>
            </a:r>
            <a:r>
              <a:rPr sz="1400" b="1" dirty="0">
                <a:solidFill>
                  <a:srgbClr val="DA1E28"/>
                </a:solidFill>
                <a:latin typeface="Menlo"/>
              </a:rPr>
              <a:t>://</a:t>
            </a:r>
            <a:r>
              <a:rPr sz="1400" b="1" dirty="0" err="1">
                <a:solidFill>
                  <a:srgbClr val="DA1E28"/>
                </a:solidFill>
                <a:latin typeface="Menlo"/>
              </a:rPr>
              <a:t>github.com</a:t>
            </a:r>
            <a:r>
              <a:rPr sz="1400" b="1" dirty="0">
                <a:solidFill>
                  <a:srgbClr val="DA1E28"/>
                </a:solidFill>
                <a:latin typeface="Menlo"/>
              </a:rPr>
              <a:t>/hfwen0502/</a:t>
            </a:r>
            <a:r>
              <a:rPr sz="1400" b="1" dirty="0" err="1">
                <a:solidFill>
                  <a:srgbClr val="DA1E28"/>
                </a:solidFill>
                <a:latin typeface="Menlo"/>
              </a:rPr>
              <a:t>qiskit-addon-sqd@patch-ferminon-sbd</a:t>
            </a:r>
            <a:endParaRPr sz="1400" b="1" dirty="0">
              <a:solidFill>
                <a:srgbClr val="DA1E28"/>
              </a:solidFill>
              <a:latin typeface="Menl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2691</TotalTime>
  <Words>1845</Words>
  <Application>Microsoft Macintosh PowerPoint</Application>
  <PresentationFormat>Widescreen</PresentationFormat>
  <Paragraphs>251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SOPHIA WEN</cp:lastModifiedBy>
  <cp:revision>26</cp:revision>
  <dcterms:created xsi:type="dcterms:W3CDTF">2013-01-27T09:14:16Z</dcterms:created>
  <dcterms:modified xsi:type="dcterms:W3CDTF">2026-06-19T19:53:39Z</dcterms:modified>
  <cp:category/>
</cp:coreProperties>
</file>